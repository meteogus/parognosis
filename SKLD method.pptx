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279" r:id="rId3"/>
    <p:sldId id="258" r:id="rId4"/>
    <p:sldId id="280" r:id="rId5"/>
    <p:sldId id="281" r:id="rId6"/>
    <p:sldId id="260" r:id="rId7"/>
    <p:sldId id="263" r:id="rId8"/>
    <p:sldId id="265" r:id="rId9"/>
    <p:sldId id="267" r:id="rId10"/>
    <p:sldId id="282" r:id="rId11"/>
    <p:sldId id="272" r:id="rId12"/>
    <p:sldId id="275" r:id="rId13"/>
    <p:sldId id="277" r:id="rId14"/>
    <p:sldId id="269" r:id="rId15"/>
    <p:sldId id="270" r:id="rId16"/>
    <p:sldId id="273" r:id="rId17"/>
    <p:sldId id="274" r:id="rId18"/>
    <p:sldId id="276"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191919"/>
    <a:srgbClr val="FF0080"/>
    <a:srgbClr val="66FFFF"/>
    <a:srgbClr val="FF00FF"/>
    <a:srgbClr val="5D7E9D"/>
    <a:srgbClr val="8000FF"/>
    <a:srgbClr val="66666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1172" autoAdjust="0"/>
    <p:restoredTop sz="91734" autoAdjust="0"/>
  </p:normalViewPr>
  <p:slideViewPr>
    <p:cSldViewPr snapToObjects="1">
      <p:cViewPr>
        <p:scale>
          <a:sx n="100" d="100"/>
          <a:sy n="100" d="100"/>
        </p:scale>
        <p:origin x="-8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2560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560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2560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52C81347-F499-4826-81E9-B62659454182}" type="slidenum">
              <a:rPr lang="en-US" altLang="en-US"/>
              <a:pPr>
                <a:defRPr/>
              </a:pPr>
              <a:t>‹#›</a:t>
            </a:fld>
            <a:endParaRPr lang="en-US" altLang="en-US"/>
          </a:p>
        </p:txBody>
      </p:sp>
    </p:spTree>
    <p:extLst>
      <p:ext uri="{BB962C8B-B14F-4D97-AF65-F5344CB8AC3E}">
        <p14:creationId xmlns:p14="http://schemas.microsoft.com/office/powerpoint/2010/main" xmlns="" val="12763519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E54120BA-683D-4D30-A4B4-A4C3B5DC2EEA}" type="slidenum">
              <a:rPr lang="en-US" altLang="en-US"/>
              <a:pPr>
                <a:defRPr/>
              </a:pPr>
              <a:t>‹#›</a:t>
            </a:fld>
            <a:endParaRPr lang="en-US" altLang="en-US"/>
          </a:p>
        </p:txBody>
      </p:sp>
    </p:spTree>
    <p:extLst>
      <p:ext uri="{BB962C8B-B14F-4D97-AF65-F5344CB8AC3E}">
        <p14:creationId xmlns:p14="http://schemas.microsoft.com/office/powerpoint/2010/main" xmlns="" val="37411084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D32A314-43C5-42D4-9588-313149C27674}" type="slidenum">
              <a:rPr lang="en-US" altLang="en-US"/>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3228665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D32A314-43C5-42D4-9588-313149C27674}" type="slidenum">
              <a:rPr lang="en-US" altLang="en-US"/>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3228665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2952C4E-8990-48E6-B230-C556356003BC}" type="slidenum">
              <a:rPr lang="en-US" altLang="en-US"/>
              <a:pPr>
                <a:spcBef>
                  <a:spcPct val="0"/>
                </a:spcBef>
              </a:pPr>
              <a:t>3</a:t>
            </a:fld>
            <a:endParaRPr lang="en-US" altLang="en-US"/>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2493280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2952C4E-8990-48E6-B230-C556356003BC}" type="slidenum">
              <a:rPr lang="en-US" altLang="en-US"/>
              <a:pPr>
                <a:spcBef>
                  <a:spcPct val="0"/>
                </a:spcBef>
              </a:pPr>
              <a:t>4</a:t>
            </a:fld>
            <a:endParaRPr lang="en-US" altLang="en-US"/>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2493280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2952C4E-8990-48E6-B230-C556356003BC}" type="slidenum">
              <a:rPr lang="en-US" altLang="en-US"/>
              <a:pPr>
                <a:spcBef>
                  <a:spcPct val="0"/>
                </a:spcBef>
              </a:pPr>
              <a:t>5</a:t>
            </a:fld>
            <a:endParaRPr lang="en-US" altLang="en-US"/>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2493280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354F7E-B5C3-4110-8522-8840CADBC265}" type="slidenum">
              <a:rPr lang="en-US" altLang="en-US"/>
              <a:pPr>
                <a:spcBef>
                  <a:spcPct val="0"/>
                </a:spcBef>
              </a:pPr>
              <a:t>6</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1466138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354F7E-B5C3-4110-8522-8840CADBC265}" type="slidenum">
              <a:rPr lang="en-US" altLang="en-US"/>
              <a:pPr>
                <a:spcBef>
                  <a:spcPct val="0"/>
                </a:spcBef>
              </a:pPr>
              <a:t>7</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1466138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DD2DCD-C18A-4DB6-871E-F6B801437D97}" type="slidenum">
              <a:rPr lang="en-US" altLang="en-US"/>
              <a:pPr>
                <a:spcBef>
                  <a:spcPct val="0"/>
                </a:spcBef>
              </a:pPr>
              <a:t>8</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833670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DD2DCD-C18A-4DB6-871E-F6B801437D97}" type="slidenum">
              <a:rPr lang="en-US" altLang="en-US"/>
              <a:pPr>
                <a:spcBef>
                  <a:spcPct val="0"/>
                </a:spcBef>
              </a:pPr>
              <a:t>9</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833670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DD2DCD-C18A-4DB6-871E-F6B801437D97}" type="slidenum">
              <a:rPr lang="en-US" altLang="en-US"/>
              <a:pPr>
                <a:spcBef>
                  <a:spcPct val="0"/>
                </a:spcBef>
              </a:pPr>
              <a:t>10</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833670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DD2DCD-C18A-4DB6-871E-F6B801437D97}" type="slidenum">
              <a:rPr lang="en-US" altLang="en-US"/>
              <a:pPr>
                <a:spcBef>
                  <a:spcPct val="0"/>
                </a:spcBef>
              </a:pPr>
              <a:t>11</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833670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DD2DCD-C18A-4DB6-871E-F6B801437D97}" type="slidenum">
              <a:rPr lang="en-US" altLang="en-US"/>
              <a:pPr>
                <a:spcBef>
                  <a:spcPct val="0"/>
                </a:spcBef>
              </a:pPr>
              <a:t>12</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833670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DD2DCD-C18A-4DB6-871E-F6B801437D97}" type="slidenum">
              <a:rPr lang="en-US" altLang="en-US"/>
              <a:pPr>
                <a:spcBef>
                  <a:spcPct val="0"/>
                </a:spcBef>
              </a:pPr>
              <a:t>13</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833670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DD2DCD-C18A-4DB6-871E-F6B801437D97}" type="slidenum">
              <a:rPr lang="en-US" altLang="en-US"/>
              <a:pPr>
                <a:spcBef>
                  <a:spcPct val="0"/>
                </a:spcBef>
              </a:pPr>
              <a:t>14</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833670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DD2DCD-C18A-4DB6-871E-F6B801437D97}" type="slidenum">
              <a:rPr lang="en-US" altLang="en-US"/>
              <a:pPr>
                <a:spcBef>
                  <a:spcPct val="0"/>
                </a:spcBef>
              </a:pPr>
              <a:t>15</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8336706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354F7E-B5C3-4110-8522-8840CADBC265}" type="slidenum">
              <a:rPr lang="en-US" altLang="en-US"/>
              <a:pPr>
                <a:spcBef>
                  <a:spcPct val="0"/>
                </a:spcBef>
              </a:pPr>
              <a:t>16</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1466138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354F7E-B5C3-4110-8522-8840CADBC265}" type="slidenum">
              <a:rPr lang="en-US" altLang="en-US"/>
              <a:pPr>
                <a:spcBef>
                  <a:spcPct val="0"/>
                </a:spcBef>
              </a:pPr>
              <a:t>17</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1466138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354F7E-B5C3-4110-8522-8840CADBC265}" type="slidenum">
              <a:rPr lang="en-US" altLang="en-US"/>
              <a:pPr>
                <a:spcBef>
                  <a:spcPct val="0"/>
                </a:spcBef>
              </a:pPr>
              <a:t>18</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GB" altLang="en-US" smtClean="0">
              <a:latin typeface="Arial" panose="020B0604020202020204" pitchFamily="34" charset="0"/>
            </a:endParaRPr>
          </a:p>
        </p:txBody>
      </p:sp>
    </p:spTree>
    <p:extLst>
      <p:ext uri="{BB962C8B-B14F-4D97-AF65-F5344CB8AC3E}">
        <p14:creationId xmlns:p14="http://schemas.microsoft.com/office/powerpoint/2010/main" xmlns="" val="14661384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FFFFFF"/>
        </a:solidFill>
        <a:effectLst/>
      </p:bgPr>
    </p:bg>
    <p:spTree>
      <p:nvGrpSpPr>
        <p:cNvPr id="1" name=""/>
        <p:cNvGrpSpPr/>
        <p:nvPr/>
      </p:nvGrpSpPr>
      <p:grpSpPr>
        <a:xfrm>
          <a:off x="0" y="0"/>
          <a:ext cx="0" cy="0"/>
          <a:chOff x="0" y="0"/>
          <a:chExt cx="0" cy="0"/>
        </a:xfrm>
      </p:grpSpPr>
      <p:pic>
        <p:nvPicPr>
          <p:cNvPr id="4" name="Picture 24" descr="bluebackgorund"/>
          <p:cNvPicPr>
            <a:picLocks noChangeAspect="1" noChangeArrowheads="1"/>
          </p:cNvPicPr>
          <p:nvPr/>
        </p:nvPicPr>
        <p:blipFill>
          <a:blip r:embed="rId2">
            <a:extLst>
              <a:ext uri="{28A0092B-C50C-407E-A947-70E740481C1C}">
                <a14:useLocalDpi xmlns:a14="http://schemas.microsoft.com/office/drawing/2010/main" xmlns="" val="0"/>
              </a:ext>
            </a:extLst>
          </a:blip>
          <a:srcRect l="3816" t="1057" r="4581" b="1799"/>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074" name="Rectangle 2"/>
          <p:cNvSpPr>
            <a:spLocks noGrp="1" noChangeArrowheads="1"/>
          </p:cNvSpPr>
          <p:nvPr>
            <p:ph type="ctrTitle"/>
          </p:nvPr>
        </p:nvSpPr>
        <p:spPr>
          <a:xfrm>
            <a:off x="685800" y="1196975"/>
            <a:ext cx="7772400" cy="1470025"/>
          </a:xfrm>
        </p:spPr>
        <p:txBody>
          <a:bodyPr/>
          <a:lstStyle>
            <a:lvl1pPr>
              <a:defRPr/>
            </a:lvl1pPr>
          </a:lstStyle>
          <a:p>
            <a:pPr lvl="0"/>
            <a:r>
              <a:rPr lang="en-US" noProof="0" smtClean="0"/>
              <a:t>Click to edit Master title style</a:t>
            </a:r>
          </a:p>
        </p:txBody>
      </p:sp>
      <p:sp>
        <p:nvSpPr>
          <p:cNvPr id="3075" name="Rectangle 3"/>
          <p:cNvSpPr>
            <a:spLocks noGrp="1" noChangeArrowheads="1"/>
          </p:cNvSpPr>
          <p:nvPr>
            <p:ph type="subTitle" idx="1"/>
          </p:nvPr>
        </p:nvSpPr>
        <p:spPr>
          <a:xfrm>
            <a:off x="1371600" y="2952750"/>
            <a:ext cx="6400800" cy="1752600"/>
          </a:xfrm>
        </p:spPr>
        <p:txBody>
          <a:bodyPr/>
          <a:lstStyle>
            <a:lvl1pPr marL="0" indent="0" algn="ctr">
              <a:buFontTx/>
              <a:buNone/>
              <a:defRPr/>
            </a:lvl1pPr>
          </a:lstStyle>
          <a:p>
            <a:pPr lvl="0"/>
            <a:r>
              <a:rPr lang="en-US" noProof="0" smtClean="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smtClean="0"/>
            </a:lvl1pPr>
          </a:lstStyle>
          <a:p>
            <a:pPr>
              <a:defRPr/>
            </a:pPr>
            <a:fld id="{72D9F3F8-F33C-43E3-859B-D20CD0E05CF6}" type="slidenum">
              <a:rPr lang="en-US" altLang="en-US"/>
              <a:pPr>
                <a:defRPr/>
              </a:pPr>
              <a:t>‹#›</a:t>
            </a:fld>
            <a:endParaRPr lang="en-US" altLang="en-US"/>
          </a:p>
        </p:txBody>
      </p:sp>
    </p:spTree>
    <p:extLst>
      <p:ext uri="{BB962C8B-B14F-4D97-AF65-F5344CB8AC3E}">
        <p14:creationId xmlns:p14="http://schemas.microsoft.com/office/powerpoint/2010/main" xmlns="" val="456201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B310197-2870-4F15-B82C-94FD3B9E5BBB}" type="slidenum">
              <a:rPr lang="en-US" altLang="en-US"/>
              <a:pPr>
                <a:defRPr/>
              </a:pPr>
              <a:t>‹#›</a:t>
            </a:fld>
            <a:endParaRPr lang="en-US" altLang="en-US"/>
          </a:p>
        </p:txBody>
      </p:sp>
    </p:spTree>
    <p:extLst>
      <p:ext uri="{BB962C8B-B14F-4D97-AF65-F5344CB8AC3E}">
        <p14:creationId xmlns:p14="http://schemas.microsoft.com/office/powerpoint/2010/main" xmlns="" val="3037243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3BFF8D-FC27-4E12-B06E-5E24C899C6AA}" type="slidenum">
              <a:rPr lang="en-US" altLang="en-US"/>
              <a:pPr>
                <a:defRPr/>
              </a:pPr>
              <a:t>‹#›</a:t>
            </a:fld>
            <a:endParaRPr lang="en-US" altLang="en-US"/>
          </a:p>
        </p:txBody>
      </p:sp>
    </p:spTree>
    <p:extLst>
      <p:ext uri="{BB962C8B-B14F-4D97-AF65-F5344CB8AC3E}">
        <p14:creationId xmlns:p14="http://schemas.microsoft.com/office/powerpoint/2010/main" xmlns="" val="659398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37004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37004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71E637B-D99C-413D-B93E-238FB7956FE6}" type="slidenum">
              <a:rPr lang="en-US" altLang="en-US"/>
              <a:pPr>
                <a:defRPr/>
              </a:pPr>
              <a:t>‹#›</a:t>
            </a:fld>
            <a:endParaRPr lang="en-US" altLang="en-US"/>
          </a:p>
        </p:txBody>
      </p:sp>
    </p:spTree>
    <p:extLst>
      <p:ext uri="{BB962C8B-B14F-4D97-AF65-F5344CB8AC3E}">
        <p14:creationId xmlns:p14="http://schemas.microsoft.com/office/powerpoint/2010/main" xmlns="" val="1347280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0DF0CAE-5797-4FD3-B733-96DF02C46CB9}" type="slidenum">
              <a:rPr lang="en-US" altLang="en-US"/>
              <a:pPr>
                <a:defRPr/>
              </a:pPr>
              <a:t>‹#›</a:t>
            </a:fld>
            <a:endParaRPr lang="en-US" altLang="en-US"/>
          </a:p>
        </p:txBody>
      </p:sp>
    </p:spTree>
    <p:extLst>
      <p:ext uri="{BB962C8B-B14F-4D97-AF65-F5344CB8AC3E}">
        <p14:creationId xmlns:p14="http://schemas.microsoft.com/office/powerpoint/2010/main" xmlns="" val="1972275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67E49B5-F2B1-403B-86A2-A1087E464C78}" type="slidenum">
              <a:rPr lang="en-US" altLang="en-US"/>
              <a:pPr>
                <a:defRPr/>
              </a:pPr>
              <a:t>‹#›</a:t>
            </a:fld>
            <a:endParaRPr lang="en-US" altLang="en-US"/>
          </a:p>
        </p:txBody>
      </p:sp>
    </p:spTree>
    <p:extLst>
      <p:ext uri="{BB962C8B-B14F-4D97-AF65-F5344CB8AC3E}">
        <p14:creationId xmlns:p14="http://schemas.microsoft.com/office/powerpoint/2010/main" xmlns="" val="70069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58D71F2-6538-45BB-8BAB-FAADE4C452FF}" type="slidenum">
              <a:rPr lang="en-US" altLang="en-US"/>
              <a:pPr>
                <a:defRPr/>
              </a:pPr>
              <a:t>‹#›</a:t>
            </a:fld>
            <a:endParaRPr lang="en-US" altLang="en-US"/>
          </a:p>
        </p:txBody>
      </p:sp>
    </p:spTree>
    <p:extLst>
      <p:ext uri="{BB962C8B-B14F-4D97-AF65-F5344CB8AC3E}">
        <p14:creationId xmlns:p14="http://schemas.microsoft.com/office/powerpoint/2010/main" xmlns="" val="3911279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9903399-A493-42BC-82B2-CF85C0A98A9B}" type="slidenum">
              <a:rPr lang="en-US" altLang="en-US"/>
              <a:pPr>
                <a:defRPr/>
              </a:pPr>
              <a:t>‹#›</a:t>
            </a:fld>
            <a:endParaRPr lang="en-US" altLang="en-US"/>
          </a:p>
        </p:txBody>
      </p:sp>
    </p:spTree>
    <p:extLst>
      <p:ext uri="{BB962C8B-B14F-4D97-AF65-F5344CB8AC3E}">
        <p14:creationId xmlns:p14="http://schemas.microsoft.com/office/powerpoint/2010/main" xmlns="" val="1514674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C6CD88D-4811-40B2-9A5E-08C77C33E7A0}" type="slidenum">
              <a:rPr lang="en-US" altLang="en-US"/>
              <a:pPr>
                <a:defRPr/>
              </a:pPr>
              <a:t>‹#›</a:t>
            </a:fld>
            <a:endParaRPr lang="en-US" altLang="en-US"/>
          </a:p>
        </p:txBody>
      </p:sp>
    </p:spTree>
    <p:extLst>
      <p:ext uri="{BB962C8B-B14F-4D97-AF65-F5344CB8AC3E}">
        <p14:creationId xmlns:p14="http://schemas.microsoft.com/office/powerpoint/2010/main" xmlns="" val="554732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7A2D3AB-39B4-4452-AAE7-7FB2D7C785D1}" type="slidenum">
              <a:rPr lang="en-US" altLang="en-US"/>
              <a:pPr>
                <a:defRPr/>
              </a:pPr>
              <a:t>‹#›</a:t>
            </a:fld>
            <a:endParaRPr lang="en-US" altLang="en-US"/>
          </a:p>
        </p:txBody>
      </p:sp>
    </p:spTree>
    <p:extLst>
      <p:ext uri="{BB962C8B-B14F-4D97-AF65-F5344CB8AC3E}">
        <p14:creationId xmlns:p14="http://schemas.microsoft.com/office/powerpoint/2010/main" xmlns="" val="1070624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0260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0260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FF7883C-AFF0-4CFB-9887-14FE3220DBC8}" type="slidenum">
              <a:rPr lang="en-US" altLang="en-US"/>
              <a:pPr>
                <a:defRPr/>
              </a:pPr>
              <a:t>‹#›</a:t>
            </a:fld>
            <a:endParaRPr lang="en-US" altLang="en-US"/>
          </a:p>
        </p:txBody>
      </p:sp>
    </p:spTree>
    <p:extLst>
      <p:ext uri="{BB962C8B-B14F-4D97-AF65-F5344CB8AC3E}">
        <p14:creationId xmlns:p14="http://schemas.microsoft.com/office/powerpoint/2010/main" xmlns="" val="7085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GB"/>
          </a:p>
        </p:txBody>
      </p:sp>
      <p:sp>
        <p:nvSpPr>
          <p:cNvPr id="3" name="Chart Placeholder 2"/>
          <p:cNvSpPr>
            <a:spLocks noGrp="1"/>
          </p:cNvSpPr>
          <p:nvPr>
            <p:ph type="chart" idx="1"/>
          </p:nvPr>
        </p:nvSpPr>
        <p:spPr>
          <a:xfrm>
            <a:off x="457200" y="1600200"/>
            <a:ext cx="8229600" cy="3700463"/>
          </a:xfrm>
        </p:spPr>
        <p:txBody>
          <a:bodyPr/>
          <a:lstStyle/>
          <a:p>
            <a:pPr lvl="0"/>
            <a:endParaRPr lang="en-GB"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F0FE1A-FB8A-4BC8-ABA1-C1F567D4FFAC}" type="slidenum">
              <a:rPr lang="en-US" altLang="en-US"/>
              <a:pPr>
                <a:defRPr/>
              </a:pPr>
              <a:t>‹#›</a:t>
            </a:fld>
            <a:endParaRPr lang="en-US" altLang="en-US"/>
          </a:p>
        </p:txBody>
      </p:sp>
    </p:spTree>
    <p:extLst>
      <p:ext uri="{BB962C8B-B14F-4D97-AF65-F5344CB8AC3E}">
        <p14:creationId xmlns:p14="http://schemas.microsoft.com/office/powerpoint/2010/main" xmlns="" val="802976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457200" y="1600200"/>
            <a:ext cx="4038600" cy="37004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37004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4A3A999-AAE1-4B78-841A-2096A310CFE0}" type="slidenum">
              <a:rPr lang="en-US" altLang="en-US"/>
              <a:pPr>
                <a:defRPr/>
              </a:pPr>
              <a:t>‹#›</a:t>
            </a:fld>
            <a:endParaRPr lang="en-US" altLang="en-US"/>
          </a:p>
        </p:txBody>
      </p:sp>
    </p:spTree>
    <p:extLst>
      <p:ext uri="{BB962C8B-B14F-4D97-AF65-F5344CB8AC3E}">
        <p14:creationId xmlns:p14="http://schemas.microsoft.com/office/powerpoint/2010/main" xmlns="" val="666276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8" descr="bluebackgorund"/>
          <p:cNvPicPr>
            <a:picLocks noChangeAspect="1" noChangeArrowheads="1"/>
          </p:cNvPicPr>
          <p:nvPr/>
        </p:nvPicPr>
        <p:blipFill>
          <a:blip r:embed="rId15">
            <a:extLst>
              <a:ext uri="{28A0092B-C50C-407E-A947-70E740481C1C}">
                <a14:useLocalDpi xmlns:a14="http://schemas.microsoft.com/office/drawing/2010/main" xmlns="" val="0"/>
              </a:ext>
            </a:extLst>
          </a:blip>
          <a:srcRect l="3816" t="1057" r="4581" b="1799"/>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457200" y="1600200"/>
            <a:ext cx="8229600" cy="37004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C6F2734D-480E-47C1-8598-5032E4EC40A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89"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249238"/>
            <a:ext cx="7772400" cy="1470025"/>
          </a:xfrm>
          <a:extLst>
            <a:ext uri="{909E8E84-426E-40DD-AFC4-6F175D3DCCD1}">
              <a14:hiddenFill xmlns:a14="http://schemas.microsoft.com/office/drawing/2010/main" xmlns="">
                <a:solidFill>
                  <a:srgbClr val="FF0080">
                    <a:alpha val="34117"/>
                  </a:srgbClr>
                </a:solidFill>
              </a14:hiddenFill>
            </a:ext>
            <a:ext uri="{91240B29-F687-4F45-9708-019B960494DF}">
              <a14:hiddenLine xmlns:a14="http://schemas.microsoft.com/office/drawing/2010/main" xmlns="" w="9525">
                <a:solidFill>
                  <a:srgbClr val="FF0080"/>
                </a:solidFill>
                <a:miter lim="800000"/>
                <a:headEnd/>
                <a:tailEnd/>
              </a14:hiddenLine>
            </a:ext>
          </a:extLst>
        </p:spPr>
        <p:txBody>
          <a:bodyPr/>
          <a:lstStyle/>
          <a:p>
            <a:pPr eaLnBrk="1" hangingPunct="1"/>
            <a:r>
              <a:rPr lang="el-GR" sz="2000" i="1" dirty="0" smtClean="0">
                <a:solidFill>
                  <a:srgbClr val="FFFF00"/>
                </a:solidFill>
              </a:rPr>
              <a:t>«Βραχυπρόθεσμη πρόγνωση σεισμών (Μ≥4,5</a:t>
            </a:r>
            <a:r>
              <a:rPr lang="en-GB" sz="2000" i="1" dirty="0" smtClean="0">
                <a:solidFill>
                  <a:srgbClr val="FFFF00"/>
                </a:solidFill>
              </a:rPr>
              <a:t>R)</a:t>
            </a:r>
            <a:r>
              <a:rPr lang="el-GR" sz="2000" i="1" dirty="0" smtClean="0">
                <a:solidFill>
                  <a:srgbClr val="FFFF00"/>
                </a:solidFill>
              </a:rPr>
              <a:t> μέσω μεταβολής της ιονοσφαιρικής παραμέτρου </a:t>
            </a:r>
            <a:r>
              <a:rPr lang="en-GB" sz="2000" i="1" dirty="0" smtClean="0">
                <a:solidFill>
                  <a:srgbClr val="FFFF00"/>
                </a:solidFill>
              </a:rPr>
              <a:t>TEC</a:t>
            </a:r>
            <a:r>
              <a:rPr lang="el-GR" sz="2000" i="1" dirty="0" smtClean="0">
                <a:solidFill>
                  <a:srgbClr val="FFFF00"/>
                </a:solidFill>
              </a:rPr>
              <a:t> κατά την επεξεργασία</a:t>
            </a:r>
            <a:r>
              <a:rPr lang="en-GB" sz="2000" i="1" dirty="0" smtClean="0">
                <a:solidFill>
                  <a:srgbClr val="FFFF00"/>
                </a:solidFill>
              </a:rPr>
              <a:t> </a:t>
            </a:r>
            <a:r>
              <a:rPr lang="el-GR" sz="2000" i="1" dirty="0" smtClean="0">
                <a:solidFill>
                  <a:srgbClr val="FFFF00"/>
                </a:solidFill>
              </a:rPr>
              <a:t>των καταγραφών από σταθμούς </a:t>
            </a:r>
            <a:r>
              <a:rPr lang="en-GB" sz="2000" i="1" dirty="0" smtClean="0">
                <a:solidFill>
                  <a:srgbClr val="FFFF00"/>
                </a:solidFill>
              </a:rPr>
              <a:t>GPS</a:t>
            </a:r>
            <a:r>
              <a:rPr lang="el-GR" sz="2000" i="1" dirty="0" smtClean="0">
                <a:solidFill>
                  <a:srgbClr val="FFFF00"/>
                </a:solidFill>
              </a:rPr>
              <a:t>»</a:t>
            </a:r>
            <a:endParaRPr lang="en-US" altLang="en-US" sz="2000" dirty="0" smtClean="0">
              <a:solidFill>
                <a:srgbClr val="FFFF00"/>
              </a:solidFill>
            </a:endParaRPr>
          </a:p>
        </p:txBody>
      </p:sp>
      <p:sp>
        <p:nvSpPr>
          <p:cNvPr id="5123" name="Text Box 15"/>
          <p:cNvSpPr txBox="1">
            <a:spLocks noChangeArrowheads="1"/>
          </p:cNvSpPr>
          <p:nvPr/>
        </p:nvSpPr>
        <p:spPr bwMode="auto">
          <a:xfrm>
            <a:off x="3870325" y="1719263"/>
            <a:ext cx="1841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pic>
        <p:nvPicPr>
          <p:cNvPr id="5" name="Picture 4" descr="gnss.png"/>
          <p:cNvPicPr>
            <a:picLocks noChangeAspect="1"/>
          </p:cNvPicPr>
          <p:nvPr/>
        </p:nvPicPr>
        <p:blipFill>
          <a:blip r:embed="rId3"/>
          <a:stretch>
            <a:fillRect/>
          </a:stretch>
        </p:blipFill>
        <p:spPr>
          <a:xfrm>
            <a:off x="142845" y="1719263"/>
            <a:ext cx="4326255" cy="3474720"/>
          </a:xfrm>
          <a:prstGeom prst="rect">
            <a:avLst/>
          </a:prstGeom>
        </p:spPr>
      </p:pic>
      <p:pic>
        <p:nvPicPr>
          <p:cNvPr id="6" name="Picture 5" descr="metrica.png"/>
          <p:cNvPicPr>
            <a:picLocks noChangeAspect="1"/>
          </p:cNvPicPr>
          <p:nvPr/>
        </p:nvPicPr>
        <p:blipFill>
          <a:blip r:embed="rId4"/>
          <a:stretch>
            <a:fillRect/>
          </a:stretch>
        </p:blipFill>
        <p:spPr>
          <a:xfrm>
            <a:off x="4786314" y="1719264"/>
            <a:ext cx="4269105" cy="3474720"/>
          </a:xfrm>
          <a:prstGeom prst="rect">
            <a:avLst/>
          </a:prstGeom>
        </p:spPr>
      </p:pic>
      <p:sp>
        <p:nvSpPr>
          <p:cNvPr id="7" name="TextBox 6"/>
          <p:cNvSpPr txBox="1"/>
          <p:nvPr/>
        </p:nvSpPr>
        <p:spPr>
          <a:xfrm>
            <a:off x="1101702" y="5193984"/>
            <a:ext cx="2768623" cy="338554"/>
          </a:xfrm>
          <a:prstGeom prst="rect">
            <a:avLst/>
          </a:prstGeom>
          <a:noFill/>
        </p:spPr>
        <p:txBody>
          <a:bodyPr wrap="square" rtlCol="0">
            <a:spAutoFit/>
          </a:bodyPr>
          <a:lstStyle/>
          <a:p>
            <a:r>
              <a:rPr lang="el-GR" sz="1600" dirty="0" smtClean="0">
                <a:solidFill>
                  <a:srgbClr val="FFFFFF"/>
                </a:solidFill>
              </a:rPr>
              <a:t>Δίκτυο σταθμών ΓΕ.ΙΝ.</a:t>
            </a:r>
            <a:endParaRPr lang="el-GR" sz="1600" dirty="0">
              <a:solidFill>
                <a:srgbClr val="FFFFFF"/>
              </a:solidFill>
            </a:endParaRPr>
          </a:p>
        </p:txBody>
      </p:sp>
      <p:sp>
        <p:nvSpPr>
          <p:cNvPr id="8" name="TextBox 7"/>
          <p:cNvSpPr txBox="1"/>
          <p:nvPr/>
        </p:nvSpPr>
        <p:spPr>
          <a:xfrm>
            <a:off x="5857884" y="5193984"/>
            <a:ext cx="2768623" cy="338554"/>
          </a:xfrm>
          <a:prstGeom prst="rect">
            <a:avLst/>
          </a:prstGeom>
          <a:noFill/>
        </p:spPr>
        <p:txBody>
          <a:bodyPr wrap="square" rtlCol="0">
            <a:spAutoFit/>
          </a:bodyPr>
          <a:lstStyle/>
          <a:p>
            <a:r>
              <a:rPr lang="el-GR" sz="1600" dirty="0" smtClean="0">
                <a:solidFill>
                  <a:srgbClr val="FFFFFF"/>
                </a:solidFill>
              </a:rPr>
              <a:t>Δίκτυο σταθμών </a:t>
            </a:r>
            <a:r>
              <a:rPr lang="en-GB" sz="1600" dirty="0" smtClean="0">
                <a:solidFill>
                  <a:srgbClr val="FFFFFF"/>
                </a:solidFill>
              </a:rPr>
              <a:t>Metrica</a:t>
            </a:r>
            <a:endParaRPr lang="el-GR" sz="1600" dirty="0">
              <a:solidFill>
                <a:srgbClr val="FFFFFF"/>
              </a:solidFill>
            </a:endParaRPr>
          </a:p>
        </p:txBody>
      </p:sp>
      <p:sp>
        <p:nvSpPr>
          <p:cNvPr id="9" name="TextBox 8"/>
          <p:cNvSpPr txBox="1"/>
          <p:nvPr/>
        </p:nvSpPr>
        <p:spPr>
          <a:xfrm>
            <a:off x="1350118" y="5643578"/>
            <a:ext cx="7108082" cy="1107996"/>
          </a:xfrm>
          <a:prstGeom prst="rect">
            <a:avLst/>
          </a:prstGeom>
          <a:noFill/>
        </p:spPr>
        <p:txBody>
          <a:bodyPr wrap="square" rtlCol="0">
            <a:spAutoFit/>
          </a:bodyPr>
          <a:lstStyle/>
          <a:p>
            <a:pPr algn="ctr"/>
            <a:r>
              <a:rPr lang="el-GR" sz="1200" b="1" i="1" dirty="0" smtClean="0">
                <a:solidFill>
                  <a:srgbClr val="FFC000"/>
                </a:solidFill>
              </a:rPr>
              <a:t>(*) Οι τιμές ΤΕC είναι ένα χαρακτηριστικό της ιονόσφαιρας και εκφράζουν τον αριθμό των ηλεκτρονίων, κατά μήκος διαδρομής πάχους 2 cm ενός ηλεκτρομαγνητικού κύματος, μέσα σε αυτή, μετρημένο σε </a:t>
            </a:r>
            <a:r>
              <a:rPr lang="el-GR" sz="1200" b="1" i="1" dirty="0" smtClean="0">
                <a:solidFill>
                  <a:srgbClr val="FFC000"/>
                </a:solidFill>
              </a:rPr>
              <a:t>ηλεκτρόνια/cm2</a:t>
            </a:r>
            <a:r>
              <a:rPr lang="el-GR" sz="1200" b="1" i="1" dirty="0" smtClean="0">
                <a:solidFill>
                  <a:srgbClr val="FFC000"/>
                </a:solidFill>
              </a:rPr>
              <a:t>. Το ΤΕC χρησιμοποιείται στον προσδιορισμό της καθυστέρησης και των αλλαγών στη διεύθυνση ενός κύματος μέσα στην ιονόσφαιρα.</a:t>
            </a:r>
          </a:p>
          <a:p>
            <a:endParaRPr lang="el-GR"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15"/>
          <p:cNvSpPr txBox="1">
            <a:spLocks noChangeArrowheads="1"/>
          </p:cNvSpPr>
          <p:nvPr/>
        </p:nvSpPr>
        <p:spPr bwMode="auto">
          <a:xfrm>
            <a:off x="3870325" y="1719263"/>
            <a:ext cx="1841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en-US" sz="1800"/>
          </a:p>
        </p:txBody>
      </p:sp>
      <p:pic>
        <p:nvPicPr>
          <p:cNvPr id="4" name="Picture 3" descr="Screenshot_1.png"/>
          <p:cNvPicPr>
            <a:picLocks noChangeAspect="1"/>
          </p:cNvPicPr>
          <p:nvPr/>
        </p:nvPicPr>
        <p:blipFill>
          <a:blip r:embed="rId3"/>
          <a:stretch>
            <a:fillRect/>
          </a:stretch>
        </p:blipFill>
        <p:spPr>
          <a:xfrm>
            <a:off x="0" y="212651"/>
            <a:ext cx="9144000" cy="6432698"/>
          </a:xfrm>
          <a:prstGeom prst="rect">
            <a:avLst/>
          </a:prstGeom>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l-GR" altLang="en-US" sz="2000" dirty="0" smtClean="0">
                <a:solidFill>
                  <a:srgbClr val="FFFF00"/>
                </a:solidFill>
              </a:rPr>
              <a:t>Μοντέλο Λιθο – Ατμοσφαιρικής – Ιονοσφαιρικής Σύζευξης </a:t>
            </a:r>
            <a:br>
              <a:rPr lang="el-GR" altLang="en-US" sz="2000" dirty="0" smtClean="0">
                <a:solidFill>
                  <a:srgbClr val="FFFF00"/>
                </a:solidFill>
              </a:rPr>
            </a:br>
            <a:r>
              <a:rPr lang="el-GR" altLang="en-US" sz="2000" dirty="0" smtClean="0">
                <a:solidFill>
                  <a:srgbClr val="FFFF00"/>
                </a:solidFill>
              </a:rPr>
              <a:t>(</a:t>
            </a:r>
            <a:r>
              <a:rPr lang="en-GB" altLang="en-US" sz="2000" dirty="0" smtClean="0">
                <a:solidFill>
                  <a:srgbClr val="FFFF00"/>
                </a:solidFill>
              </a:rPr>
              <a:t>LAIC </a:t>
            </a:r>
            <a:r>
              <a:rPr lang="en-US" altLang="en-US" sz="2000" dirty="0" smtClean="0">
                <a:solidFill>
                  <a:srgbClr val="FFFF00"/>
                </a:solidFill>
              </a:rPr>
              <a:t>model</a:t>
            </a:r>
            <a:r>
              <a:rPr lang="en-GB" altLang="en-US" sz="2000" dirty="0" smtClean="0">
                <a:solidFill>
                  <a:srgbClr val="FFFF00"/>
                </a:solidFill>
              </a:rPr>
              <a:t>)</a:t>
            </a:r>
            <a:endParaRPr lang="en-US" altLang="en-US" sz="2000" dirty="0" smtClean="0">
              <a:solidFill>
                <a:srgbClr val="FFFF00"/>
              </a:solidFill>
            </a:endParaRPr>
          </a:p>
        </p:txBody>
      </p:sp>
      <p:sp>
        <p:nvSpPr>
          <p:cNvPr id="7171" name="Rectangle 3"/>
          <p:cNvSpPr>
            <a:spLocks noGrp="1" noChangeArrowheads="1"/>
          </p:cNvSpPr>
          <p:nvPr>
            <p:ph type="body" idx="1"/>
          </p:nvPr>
        </p:nvSpPr>
        <p:spPr>
          <a:xfrm>
            <a:off x="457200" y="1214422"/>
            <a:ext cx="8229600" cy="3700463"/>
          </a:xfrm>
        </p:spPr>
        <p:txBody>
          <a:bodyPr/>
          <a:lstStyle/>
          <a:p>
            <a:pPr eaLnBrk="1" hangingPunct="1">
              <a:buNone/>
            </a:pPr>
            <a:endParaRPr lang="el-GR" sz="1400" b="1" dirty="0" smtClean="0">
              <a:solidFill>
                <a:srgbClr val="FFC000"/>
              </a:solidFill>
            </a:endParaRPr>
          </a:p>
          <a:p>
            <a:pPr algn="just" eaLnBrk="1" hangingPunct="1"/>
            <a:r>
              <a:rPr lang="el-GR" sz="1600" dirty="0" smtClean="0">
                <a:solidFill>
                  <a:srgbClr val="66FFFF"/>
                </a:solidFill>
              </a:rPr>
              <a:t>Η σύνθλιψη των πετρωμάτων, που προηγείται της εκδήλωσης ενός ισχυρού επιφανειακού σεισμού </a:t>
            </a:r>
            <a:r>
              <a:rPr lang="el-GR" sz="1600" dirty="0" smtClean="0">
                <a:solidFill>
                  <a:srgbClr val="66FFFF"/>
                </a:solidFill>
              </a:rPr>
              <a:t>(</a:t>
            </a:r>
            <a:r>
              <a:rPr lang="el-GR" sz="1600" dirty="0" smtClean="0">
                <a:solidFill>
                  <a:srgbClr val="66FFFF"/>
                </a:solidFill>
              </a:rPr>
              <a:t>Μ</a:t>
            </a:r>
            <a:r>
              <a:rPr lang="en-GB" sz="1600" dirty="0" smtClean="0">
                <a:solidFill>
                  <a:srgbClr val="66FFFF"/>
                </a:solidFill>
              </a:rPr>
              <a:t>≥</a:t>
            </a:r>
            <a:r>
              <a:rPr lang="el-GR" sz="1600" dirty="0" smtClean="0">
                <a:solidFill>
                  <a:srgbClr val="66FFFF"/>
                </a:solidFill>
              </a:rPr>
              <a:t>4,5</a:t>
            </a:r>
            <a:r>
              <a:rPr lang="en-GB" sz="1600" dirty="0" smtClean="0">
                <a:solidFill>
                  <a:srgbClr val="66FFFF"/>
                </a:solidFill>
              </a:rPr>
              <a:t>R</a:t>
            </a:r>
            <a:r>
              <a:rPr lang="el-GR" sz="1600" dirty="0" smtClean="0">
                <a:solidFill>
                  <a:srgbClr val="66FFFF"/>
                </a:solidFill>
              </a:rPr>
              <a:t> </a:t>
            </a:r>
            <a:r>
              <a:rPr lang="el-GR" sz="1600" dirty="0" smtClean="0">
                <a:solidFill>
                  <a:srgbClr val="66FFFF"/>
                </a:solidFill>
              </a:rPr>
              <a:t>με εστια</a:t>
            </a:r>
            <a:r>
              <a:rPr lang="el-GR" sz="1600" dirty="0" smtClean="0">
                <a:solidFill>
                  <a:srgbClr val="66FFFF"/>
                </a:solidFill>
              </a:rPr>
              <a:t>κό </a:t>
            </a:r>
            <a:r>
              <a:rPr lang="el-GR" sz="1600" dirty="0" smtClean="0">
                <a:solidFill>
                  <a:srgbClr val="66FFFF"/>
                </a:solidFill>
              </a:rPr>
              <a:t>βάθος &lt;30</a:t>
            </a:r>
            <a:r>
              <a:rPr lang="en-GB" sz="1600" dirty="0" smtClean="0">
                <a:solidFill>
                  <a:srgbClr val="66FFFF"/>
                </a:solidFill>
              </a:rPr>
              <a:t>km)</a:t>
            </a:r>
            <a:r>
              <a:rPr lang="el-GR" sz="1600" dirty="0" smtClean="0">
                <a:solidFill>
                  <a:srgbClr val="66FFFF"/>
                </a:solidFill>
              </a:rPr>
              <a:t>, απελευθερώνει λόγω τριβών ένα ρεύμα θετικά φορτισμένων ηλεκτρονίων που φθάνουν ως την επιφάνεια του εδάφους και δημιουργούν υψηλά ηλεκτρικά πεδία. Η ισχύς των πεδίων αυτών μπορεί να φθάσει το 1.000.000</a:t>
            </a:r>
            <a:r>
              <a:rPr lang="en-GB" sz="1600" dirty="0" smtClean="0">
                <a:solidFill>
                  <a:srgbClr val="66FFFF"/>
                </a:solidFill>
              </a:rPr>
              <a:t>V/cm</a:t>
            </a:r>
            <a:r>
              <a:rPr lang="el-GR" sz="1600" dirty="0" smtClean="0">
                <a:solidFill>
                  <a:srgbClr val="66FFFF"/>
                </a:solidFill>
              </a:rPr>
              <a:t>, αρκετή για να ιονίσει τον αέρα που βρίσκεται κοντά στο έδαφος. Τα απελευθερωμένα ηλεκτρόνια ανεβαίνουν προς τα πάνω</a:t>
            </a:r>
            <a:r>
              <a:rPr lang="en-GB" sz="1600" dirty="0" smtClean="0">
                <a:solidFill>
                  <a:srgbClr val="66FFFF"/>
                </a:solidFill>
              </a:rPr>
              <a:t> </a:t>
            </a:r>
            <a:r>
              <a:rPr lang="el-GR" sz="1600" dirty="0" smtClean="0">
                <a:solidFill>
                  <a:srgbClr val="66FFFF"/>
                </a:solidFill>
              </a:rPr>
              <a:t>και διαταράσσουν την ιονόσφαιρα</a:t>
            </a:r>
            <a:r>
              <a:rPr lang="en-GB" sz="1600" dirty="0" smtClean="0">
                <a:solidFill>
                  <a:srgbClr val="66FFFF"/>
                </a:solidFill>
              </a:rPr>
              <a:t>, </a:t>
            </a:r>
            <a:r>
              <a:rPr lang="el-GR" sz="1600" dirty="0" smtClean="0">
                <a:solidFill>
                  <a:srgbClr val="66FFFF"/>
                </a:solidFill>
              </a:rPr>
              <a:t>προκαλώντας σε τοπικό επίπεδο ανώμαλες μεταβολές της συνολικής πυκνότητας ηλεκτρονίων </a:t>
            </a:r>
            <a:r>
              <a:rPr lang="el-GR" sz="1600" b="1" dirty="0" smtClean="0">
                <a:solidFill>
                  <a:srgbClr val="FFFFFF"/>
                </a:solidFill>
              </a:rPr>
              <a:t>(</a:t>
            </a:r>
            <a:r>
              <a:rPr lang="en-GB" sz="1600" b="1" dirty="0" smtClean="0">
                <a:solidFill>
                  <a:srgbClr val="FFFFFF"/>
                </a:solidFill>
              </a:rPr>
              <a:t>Total Electron Content)</a:t>
            </a:r>
            <a:r>
              <a:rPr lang="el-GR" sz="1600" b="1" dirty="0" smtClean="0">
                <a:solidFill>
                  <a:srgbClr val="FFFFFF"/>
                </a:solidFill>
              </a:rPr>
              <a:t>.</a:t>
            </a:r>
          </a:p>
          <a:p>
            <a:pPr algn="just" eaLnBrk="1" hangingPunct="1">
              <a:buNone/>
            </a:pPr>
            <a:endParaRPr lang="el-GR" sz="1600" dirty="0" smtClean="0">
              <a:solidFill>
                <a:srgbClr val="66FFFF"/>
              </a:solidFill>
            </a:endParaRPr>
          </a:p>
          <a:p>
            <a:pPr algn="just" eaLnBrk="1" hangingPunct="1"/>
            <a:r>
              <a:rPr lang="el-GR" sz="1600" dirty="0" smtClean="0">
                <a:solidFill>
                  <a:srgbClr val="66FFFF"/>
                </a:solidFill>
              </a:rPr>
              <a:t>Για να επηρεαστεί η ιονόσφαιρα από έναν επικείμενο σεισμό πρέπει η ζώνη προετοιμασίας του σεισμού να έχει έκταση τουλάχιστον 200</a:t>
            </a:r>
            <a:r>
              <a:rPr lang="en-GB" sz="1600" dirty="0" smtClean="0">
                <a:solidFill>
                  <a:srgbClr val="66FFFF"/>
                </a:solidFill>
              </a:rPr>
              <a:t>km,</a:t>
            </a:r>
            <a:r>
              <a:rPr lang="el-GR" sz="1600" dirty="0" smtClean="0">
                <a:solidFill>
                  <a:srgbClr val="66FFFF"/>
                </a:solidFill>
              </a:rPr>
              <a:t> η οποία και αντιστοιχεί σε ελάχιστη ένταση Μ=4,65</a:t>
            </a:r>
            <a:r>
              <a:rPr lang="en-GB" sz="1600" dirty="0" smtClean="0">
                <a:solidFill>
                  <a:srgbClr val="66FFFF"/>
                </a:solidFill>
              </a:rPr>
              <a:t>R</a:t>
            </a:r>
            <a:r>
              <a:rPr lang="el-GR" sz="1600" dirty="0" smtClean="0">
                <a:solidFill>
                  <a:srgbClr val="66FFFF"/>
                </a:solidFill>
              </a:rPr>
              <a:t> σύμφωνα με την ημι-εμπειρική εξίσωση </a:t>
            </a:r>
            <a:r>
              <a:rPr lang="en-GB" sz="1600" b="1" dirty="0" smtClean="0">
                <a:solidFill>
                  <a:schemeClr val="accent3"/>
                </a:solidFill>
              </a:rPr>
              <a:t>R=10^(0.43*M)</a:t>
            </a:r>
            <a:r>
              <a:rPr lang="el-GR" sz="1600" b="1" dirty="0" smtClean="0">
                <a:solidFill>
                  <a:schemeClr val="accent3"/>
                </a:solidFill>
              </a:rPr>
              <a:t>  (1) </a:t>
            </a:r>
            <a:r>
              <a:rPr lang="el-GR" sz="1600" dirty="0" smtClean="0">
                <a:solidFill>
                  <a:srgbClr val="66FFFF"/>
                </a:solidFill>
              </a:rPr>
              <a:t>(</a:t>
            </a:r>
            <a:r>
              <a:rPr lang="en-GB" sz="1600" dirty="0" smtClean="0">
                <a:solidFill>
                  <a:srgbClr val="66FFFF"/>
                </a:solidFill>
              </a:rPr>
              <a:t>Dobrovolsky et al., 1979)</a:t>
            </a:r>
            <a:r>
              <a:rPr lang="el-GR" sz="1600" dirty="0" smtClean="0">
                <a:solidFill>
                  <a:srgbClr val="66FFFF"/>
                </a:solidFill>
              </a:rPr>
              <a:t>. Με βάση τη διεθνή βιβλιογραφία, η ζώνη προετοιμασίας τείνει να έχει σφαιρικό σχήμα σε περιοχές που δεν έχουν έντονη μορφολογία.</a:t>
            </a:r>
          </a:p>
          <a:p>
            <a:pPr algn="ctr" eaLnBrk="1" hangingPunct="1"/>
            <a:endParaRPr lang="en-GB" sz="1400" b="1" dirty="0" smtClean="0">
              <a:solidFill>
                <a:srgbClr val="FFC000"/>
              </a:solidFill>
            </a:endParaRPr>
          </a:p>
          <a:p>
            <a:pPr eaLnBrk="1" hangingPunct="1">
              <a:buNone/>
            </a:pPr>
            <a:endParaRPr lang="en-GB" altLang="en-US" sz="1400" b="1" dirty="0" smtClean="0"/>
          </a:p>
        </p:txBody>
      </p:sp>
    </p:spTree>
  </p:cSld>
  <p:clrMapOvr>
    <a:masterClrMapping/>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l-GR" altLang="en-US" sz="2000" dirty="0" smtClean="0">
                <a:solidFill>
                  <a:srgbClr val="FFFF00"/>
                </a:solidFill>
              </a:rPr>
              <a:t>Ιονοσφαιρικά πρόδρομα</a:t>
            </a:r>
            <a:endParaRPr lang="en-US" altLang="en-US" sz="2000" dirty="0" smtClean="0">
              <a:solidFill>
                <a:srgbClr val="FFFF00"/>
              </a:solidFill>
            </a:endParaRPr>
          </a:p>
        </p:txBody>
      </p:sp>
      <p:sp>
        <p:nvSpPr>
          <p:cNvPr id="7171" name="Rectangle 3"/>
          <p:cNvSpPr>
            <a:spLocks noGrp="1" noChangeArrowheads="1"/>
          </p:cNvSpPr>
          <p:nvPr>
            <p:ph type="body" idx="1"/>
          </p:nvPr>
        </p:nvSpPr>
        <p:spPr>
          <a:xfrm>
            <a:off x="457200" y="785794"/>
            <a:ext cx="8229600" cy="3700463"/>
          </a:xfrm>
        </p:spPr>
        <p:txBody>
          <a:bodyPr/>
          <a:lstStyle/>
          <a:p>
            <a:pPr eaLnBrk="1" hangingPunct="1">
              <a:buNone/>
            </a:pPr>
            <a:endParaRPr lang="el-GR" sz="1400" b="1" dirty="0" smtClean="0">
              <a:solidFill>
                <a:srgbClr val="FFC000"/>
              </a:solidFill>
            </a:endParaRPr>
          </a:p>
          <a:p>
            <a:pPr algn="just" eaLnBrk="1" hangingPunct="1"/>
            <a:r>
              <a:rPr lang="el-GR" sz="1600" dirty="0" smtClean="0">
                <a:solidFill>
                  <a:srgbClr val="66FFFF"/>
                </a:solidFill>
              </a:rPr>
              <a:t>Τα ιονοσφαιρικά πρόδρομα</a:t>
            </a:r>
            <a:r>
              <a:rPr lang="en-US" sz="1600" dirty="0" smtClean="0">
                <a:solidFill>
                  <a:srgbClr val="66FFFF"/>
                </a:solidFill>
              </a:rPr>
              <a:t> </a:t>
            </a:r>
            <a:r>
              <a:rPr lang="el-GR" sz="1600" dirty="0" smtClean="0">
                <a:solidFill>
                  <a:srgbClr val="66FFFF"/>
                </a:solidFill>
              </a:rPr>
              <a:t>παριστάνουν τις μεταβολές της πυκνότητας στο πλάσμα της ιονόσφαιρας και παρατηρούνται 1-12 ημέρες πριν την εκδήλωση ενός ισχυρού επιφανειακού σεισμού (</a:t>
            </a:r>
            <a:r>
              <a:rPr lang="en-GB" sz="1600" dirty="0" smtClean="0">
                <a:solidFill>
                  <a:srgbClr val="66FFFF"/>
                </a:solidFill>
              </a:rPr>
              <a:t>M≥4,5 </a:t>
            </a:r>
            <a:r>
              <a:rPr lang="el-GR" sz="1600" dirty="0" smtClean="0">
                <a:solidFill>
                  <a:srgbClr val="66FFFF"/>
                </a:solidFill>
              </a:rPr>
              <a:t>με εστιακό βάθος &lt;30</a:t>
            </a:r>
            <a:r>
              <a:rPr lang="en-GB" sz="1600" dirty="0" smtClean="0">
                <a:solidFill>
                  <a:srgbClr val="66FFFF"/>
                </a:solidFill>
              </a:rPr>
              <a:t>km</a:t>
            </a:r>
            <a:r>
              <a:rPr lang="en-GB" sz="1600" dirty="0" smtClean="0">
                <a:solidFill>
                  <a:srgbClr val="66FFFF"/>
                </a:solidFill>
              </a:rPr>
              <a:t>).</a:t>
            </a:r>
            <a:r>
              <a:rPr lang="el-GR" sz="1600" dirty="0" smtClean="0">
                <a:solidFill>
                  <a:srgbClr val="66FFFF"/>
                </a:solidFill>
              </a:rPr>
              <a:t> </a:t>
            </a:r>
            <a:endParaRPr lang="en-GB" sz="1600" dirty="0" smtClean="0">
              <a:solidFill>
                <a:srgbClr val="66FFFF"/>
              </a:solidFill>
            </a:endParaRPr>
          </a:p>
          <a:p>
            <a:pPr algn="just" eaLnBrk="1" hangingPunct="1"/>
            <a:endParaRPr lang="en-GB" sz="1600" dirty="0" smtClean="0">
              <a:solidFill>
                <a:srgbClr val="66FFFF"/>
              </a:solidFill>
            </a:endParaRPr>
          </a:p>
          <a:p>
            <a:pPr algn="just" eaLnBrk="1" hangingPunct="1"/>
            <a:r>
              <a:rPr lang="el-GR" sz="1600" dirty="0" smtClean="0">
                <a:solidFill>
                  <a:srgbClr val="66FFFF"/>
                </a:solidFill>
              </a:rPr>
              <a:t>Οι </a:t>
            </a:r>
            <a:r>
              <a:rPr lang="en-GB" sz="1600" dirty="0" smtClean="0">
                <a:solidFill>
                  <a:srgbClr val="66FFFF"/>
                </a:solidFill>
              </a:rPr>
              <a:t>TEC</a:t>
            </a:r>
            <a:r>
              <a:rPr lang="en-US" sz="1600" dirty="0" smtClean="0">
                <a:solidFill>
                  <a:srgbClr val="66FFFF"/>
                </a:solidFill>
              </a:rPr>
              <a:t> </a:t>
            </a:r>
            <a:r>
              <a:rPr lang="el-GR" sz="1600" dirty="0" smtClean="0">
                <a:solidFill>
                  <a:srgbClr val="66FFFF"/>
                </a:solidFill>
              </a:rPr>
              <a:t>αποκλίσεις είναι θετικές ή αρνητικές. Όσο πιο ισχυρός είναι ο σεισμός και όσο πιο μικρό είναι το εστιακό βάθος, τόσο μεγαλύτερες είναι οι αποκλίσεις με τη μεγαλύτερη τιμή τους μερικές ημέρες πριν την εκδήλωση του σεισμού</a:t>
            </a:r>
            <a:r>
              <a:rPr lang="el-GR" sz="1600" dirty="0" smtClean="0">
                <a:solidFill>
                  <a:srgbClr val="66FFFF"/>
                </a:solidFill>
              </a:rPr>
              <a:t>. </a:t>
            </a:r>
            <a:r>
              <a:rPr lang="el-GR" sz="1600" dirty="0" smtClean="0">
                <a:solidFill>
                  <a:srgbClr val="66FFFF"/>
                </a:solidFill>
              </a:rPr>
              <a:t>Επίσης η </a:t>
            </a:r>
            <a:r>
              <a:rPr lang="el-GR" sz="1600" dirty="0" smtClean="0">
                <a:solidFill>
                  <a:srgbClr val="66FFFF"/>
                </a:solidFill>
              </a:rPr>
              <a:t>διάρκεια των μετασεισμικών αποκλίσεων </a:t>
            </a:r>
            <a:r>
              <a:rPr lang="en-GB" sz="1600" dirty="0" smtClean="0">
                <a:solidFill>
                  <a:srgbClr val="66FFFF"/>
                </a:solidFill>
              </a:rPr>
              <a:t>TEC</a:t>
            </a:r>
            <a:r>
              <a:rPr lang="en-US" sz="1600" dirty="0" smtClean="0">
                <a:solidFill>
                  <a:srgbClr val="66FFFF"/>
                </a:solidFill>
              </a:rPr>
              <a:t> </a:t>
            </a:r>
            <a:r>
              <a:rPr lang="el-GR" sz="1600" dirty="0" smtClean="0">
                <a:solidFill>
                  <a:srgbClr val="66FFFF"/>
                </a:solidFill>
              </a:rPr>
              <a:t>είναι ανάλογη του μεγέθους.</a:t>
            </a:r>
            <a:endParaRPr lang="en-GB" sz="1600" dirty="0" smtClean="0">
              <a:solidFill>
                <a:srgbClr val="66FFFF"/>
              </a:solidFill>
            </a:endParaRPr>
          </a:p>
          <a:p>
            <a:pPr algn="just" eaLnBrk="1" hangingPunct="1"/>
            <a:endParaRPr lang="el-GR" sz="1600" dirty="0" smtClean="0">
              <a:solidFill>
                <a:srgbClr val="66FFFF"/>
              </a:solidFill>
            </a:endParaRPr>
          </a:p>
          <a:p>
            <a:pPr algn="just" eaLnBrk="1" hangingPunct="1"/>
            <a:r>
              <a:rPr lang="el-GR" sz="1600" dirty="0" smtClean="0">
                <a:solidFill>
                  <a:srgbClr val="66FFFF"/>
                </a:solidFill>
              </a:rPr>
              <a:t>Η μορφή των μεταβολών εξαρτάται από την τοπική ώρα και το γεωγραφικό πλάτος/μήκος. </a:t>
            </a:r>
            <a:r>
              <a:rPr lang="el-GR" altLang="en-US" sz="1600" dirty="0" smtClean="0">
                <a:solidFill>
                  <a:srgbClr val="66FFFF"/>
                </a:solidFill>
              </a:rPr>
              <a:t>Στον Ελλαδικό χώρο έχει διαπιστωθεί από Ρώσους ερευνητές οτι η </a:t>
            </a:r>
            <a:r>
              <a:rPr lang="en-GB" altLang="en-US" sz="1600" dirty="0" smtClean="0">
                <a:solidFill>
                  <a:srgbClr val="66FFFF"/>
                </a:solidFill>
              </a:rPr>
              <a:t>TEC </a:t>
            </a:r>
            <a:r>
              <a:rPr lang="el-GR" altLang="en-US" sz="1600" dirty="0" smtClean="0">
                <a:solidFill>
                  <a:srgbClr val="66FFFF"/>
                </a:solidFill>
              </a:rPr>
              <a:t>χρονοσειρά ενός σταθμού που βρίσκεται εντός της ζώνης προετοιμασίας και </a:t>
            </a:r>
            <a:r>
              <a:rPr lang="el-GR" altLang="en-US" sz="1600" dirty="0" smtClean="0">
                <a:solidFill>
                  <a:srgbClr val="66FFFF"/>
                </a:solidFill>
              </a:rPr>
              <a:t>κοντά </a:t>
            </a:r>
            <a:r>
              <a:rPr lang="el-GR" altLang="en-US" sz="1600" dirty="0" smtClean="0">
                <a:solidFill>
                  <a:srgbClr val="66FFFF"/>
                </a:solidFill>
              </a:rPr>
              <a:t>στο επίκεντρο, παρουσιάζει μια ανώμαλη αύξηση ή μείωση κατά το χρονικό διάστημα 0-</a:t>
            </a:r>
            <a:r>
              <a:rPr lang="en-GB" altLang="en-US" sz="1600" dirty="0" smtClean="0">
                <a:solidFill>
                  <a:srgbClr val="66FFFF"/>
                </a:solidFill>
              </a:rPr>
              <a:t>4am</a:t>
            </a:r>
            <a:r>
              <a:rPr lang="en-US" altLang="en-US" sz="1600" dirty="0" smtClean="0">
                <a:solidFill>
                  <a:srgbClr val="66FFFF"/>
                </a:solidFill>
              </a:rPr>
              <a:t> </a:t>
            </a:r>
            <a:r>
              <a:rPr lang="el-GR" altLang="en-US" sz="1600" dirty="0" smtClean="0">
                <a:solidFill>
                  <a:srgbClr val="66FFFF"/>
                </a:solidFill>
              </a:rPr>
              <a:t>και </a:t>
            </a:r>
            <a:r>
              <a:rPr lang="en-GB" altLang="en-US" sz="1600" dirty="0" smtClean="0">
                <a:solidFill>
                  <a:srgbClr val="66FFFF"/>
                </a:solidFill>
              </a:rPr>
              <a:t>4</a:t>
            </a:r>
            <a:r>
              <a:rPr lang="el-GR" altLang="en-US" sz="1600" dirty="0" smtClean="0">
                <a:solidFill>
                  <a:srgbClr val="66FFFF"/>
                </a:solidFill>
              </a:rPr>
              <a:t>-12</a:t>
            </a:r>
            <a:r>
              <a:rPr lang="en-GB" altLang="en-US" sz="1600" dirty="0" smtClean="0">
                <a:solidFill>
                  <a:srgbClr val="66FFFF"/>
                </a:solidFill>
              </a:rPr>
              <a:t>pm</a:t>
            </a:r>
            <a:r>
              <a:rPr lang="el-GR" altLang="en-US" sz="1600" dirty="0" smtClean="0">
                <a:solidFill>
                  <a:srgbClr val="66FFFF"/>
                </a:solidFill>
              </a:rPr>
              <a:t> σε σχέση με τους γειτονικούς </a:t>
            </a:r>
            <a:r>
              <a:rPr lang="el-GR" altLang="en-US" sz="1600" dirty="0" smtClean="0">
                <a:solidFill>
                  <a:srgbClr val="66FFFF"/>
                </a:solidFill>
              </a:rPr>
              <a:t>σταθμούς</a:t>
            </a:r>
            <a:r>
              <a:rPr lang="el-GR" altLang="en-US" sz="1600" dirty="0" smtClean="0">
                <a:solidFill>
                  <a:srgbClr val="66FFFF"/>
                </a:solidFill>
              </a:rPr>
              <a:t>.</a:t>
            </a:r>
            <a:r>
              <a:rPr lang="en-GB" altLang="en-US" sz="1600" dirty="0" smtClean="0">
                <a:solidFill>
                  <a:srgbClr val="66FFFF"/>
                </a:solidFill>
              </a:rPr>
              <a:t> </a:t>
            </a:r>
            <a:r>
              <a:rPr lang="el-GR" altLang="en-US" sz="1600" dirty="0" smtClean="0">
                <a:solidFill>
                  <a:srgbClr val="66FFFF"/>
                </a:solidFill>
              </a:rPr>
              <a:t>Η ανώμαλη </a:t>
            </a:r>
            <a:r>
              <a:rPr lang="el-GR" altLang="en-US" sz="1600" dirty="0" smtClean="0">
                <a:solidFill>
                  <a:srgbClr val="66FFFF"/>
                </a:solidFill>
              </a:rPr>
              <a:t>αυτή μεταβολή διαρκεί 4-12</a:t>
            </a:r>
            <a:r>
              <a:rPr lang="en-GB" altLang="en-US" sz="1600" dirty="0" smtClean="0">
                <a:solidFill>
                  <a:srgbClr val="66FFFF"/>
                </a:solidFill>
              </a:rPr>
              <a:t>h</a:t>
            </a:r>
            <a:r>
              <a:rPr lang="en-US" altLang="en-US" sz="1600" dirty="0" smtClean="0">
                <a:solidFill>
                  <a:srgbClr val="66FFFF"/>
                </a:solidFill>
              </a:rPr>
              <a:t> </a:t>
            </a:r>
            <a:r>
              <a:rPr lang="el-GR" altLang="en-US" sz="1600" dirty="0" smtClean="0">
                <a:solidFill>
                  <a:srgbClr val="66FFFF"/>
                </a:solidFill>
              </a:rPr>
              <a:t>και η διάρκεια της είναι ανάλογη του μεγέθους του </a:t>
            </a:r>
            <a:r>
              <a:rPr lang="el-GR" altLang="en-US" sz="1600" dirty="0" smtClean="0">
                <a:solidFill>
                  <a:srgbClr val="66FFFF"/>
                </a:solidFill>
              </a:rPr>
              <a:t>σεισμού</a:t>
            </a:r>
            <a:r>
              <a:rPr lang="en-GB" altLang="en-US" sz="1600" dirty="0" smtClean="0">
                <a:solidFill>
                  <a:srgbClr val="66FFFF"/>
                </a:solidFill>
              </a:rPr>
              <a:t> </a:t>
            </a:r>
            <a:r>
              <a:rPr lang="en-GB" altLang="en-US" sz="1600" b="1" dirty="0" smtClean="0">
                <a:solidFill>
                  <a:srgbClr val="FFFFFF"/>
                </a:solidFill>
              </a:rPr>
              <a:t>(precursor mask</a:t>
            </a:r>
            <a:r>
              <a:rPr lang="en-GB" altLang="en-US" sz="1600" b="1" dirty="0" smtClean="0">
                <a:solidFill>
                  <a:srgbClr val="FFFFFF"/>
                </a:solidFill>
              </a:rPr>
              <a:t>)</a:t>
            </a:r>
            <a:r>
              <a:rPr lang="en-GB" altLang="en-US" sz="1600" dirty="0" smtClean="0">
                <a:solidFill>
                  <a:srgbClr val="66FFFF"/>
                </a:solidFill>
              </a:rPr>
              <a:t>.</a:t>
            </a:r>
          </a:p>
          <a:p>
            <a:pPr algn="just" eaLnBrk="1" hangingPunct="1"/>
            <a:endParaRPr lang="el-GR" altLang="en-US" sz="1600" dirty="0" smtClean="0">
              <a:solidFill>
                <a:srgbClr val="66FFFF"/>
              </a:solidFill>
            </a:endParaRPr>
          </a:p>
          <a:p>
            <a:pPr algn="just" eaLnBrk="1" hangingPunct="1"/>
            <a:r>
              <a:rPr lang="el-GR" altLang="en-US" sz="1600" dirty="0" smtClean="0">
                <a:solidFill>
                  <a:srgbClr val="66FFFF"/>
                </a:solidFill>
              </a:rPr>
              <a:t>Η θέση του μεγίστου της μεταβαλλόμενης έκτασης στην ιονόσφαιρα δεν συμπίπτει με την κάθετη σχεδίαση του επικέντρου του μελλοντικού σεισμού επί της ιονόσφαιρας.</a:t>
            </a:r>
            <a:endParaRPr lang="en-GB" altLang="en-US" sz="1600" dirty="0" smtClean="0">
              <a:solidFill>
                <a:srgbClr val="66FFFF"/>
              </a:solidFill>
            </a:endParaRPr>
          </a:p>
          <a:p>
            <a:pPr algn="just" eaLnBrk="1" hangingPunct="1"/>
            <a:endParaRPr lang="el-GR" altLang="en-US" sz="1600" dirty="0" smtClean="0">
              <a:solidFill>
                <a:srgbClr val="66FFFF"/>
              </a:solidFill>
            </a:endParaRPr>
          </a:p>
          <a:p>
            <a:pPr algn="just" eaLnBrk="1" hangingPunct="1"/>
            <a:r>
              <a:rPr lang="el-GR" altLang="en-US" sz="1600" dirty="0" smtClean="0">
                <a:solidFill>
                  <a:srgbClr val="66FFFF"/>
                </a:solidFill>
              </a:rPr>
              <a:t>Οι </a:t>
            </a:r>
            <a:r>
              <a:rPr lang="en-GB" altLang="en-US" sz="1600" dirty="0" smtClean="0">
                <a:solidFill>
                  <a:srgbClr val="66FFFF"/>
                </a:solidFill>
              </a:rPr>
              <a:t>GPS-TEC</a:t>
            </a:r>
            <a:r>
              <a:rPr lang="en-US" altLang="en-US" sz="1600" dirty="0" smtClean="0">
                <a:solidFill>
                  <a:srgbClr val="66FFFF"/>
                </a:solidFill>
              </a:rPr>
              <a:t> </a:t>
            </a:r>
            <a:r>
              <a:rPr lang="el-GR" altLang="en-US" sz="1600" dirty="0" smtClean="0">
                <a:solidFill>
                  <a:srgbClr val="66FFFF"/>
                </a:solidFill>
              </a:rPr>
              <a:t>μεταβολές πρακτικά συμπίπτουν σε μορφή με τις αποκλίσεις της κρίσιμης συχνότητας </a:t>
            </a:r>
            <a:r>
              <a:rPr lang="en-GB" altLang="en-US" sz="1600" dirty="0" smtClean="0">
                <a:solidFill>
                  <a:srgbClr val="66FFFF"/>
                </a:solidFill>
              </a:rPr>
              <a:t>foF2.</a:t>
            </a:r>
            <a:endParaRPr lang="el-GR" altLang="en-US" sz="1600" dirty="0" smtClean="0">
              <a:solidFill>
                <a:srgbClr val="66FFFF"/>
              </a:solidFill>
            </a:endParaRPr>
          </a:p>
          <a:p>
            <a:pPr algn="just" eaLnBrk="1" hangingPunct="1"/>
            <a:endParaRPr lang="en-GB" sz="1400" dirty="0" smtClean="0">
              <a:solidFill>
                <a:srgbClr val="FFC000"/>
              </a:solidFill>
            </a:endParaRPr>
          </a:p>
          <a:p>
            <a:pPr eaLnBrk="1" hangingPunct="1">
              <a:buNone/>
            </a:pPr>
            <a:endParaRPr lang="en-GB" altLang="en-US" sz="1400" b="1" dirty="0" smtClean="0"/>
          </a:p>
        </p:txBody>
      </p:sp>
    </p:spTree>
  </p:cSld>
  <p:clrMapOvr>
    <a:masterClrMapping/>
  </p:clrMapOvr>
  <p:transition advClick="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l-GR" altLang="en-US" sz="2000" dirty="0" smtClean="0">
                <a:solidFill>
                  <a:srgbClr val="FFFF00"/>
                </a:solidFill>
              </a:rPr>
              <a:t>Ιονοσφαιρικά πρόδρομα </a:t>
            </a:r>
            <a:r>
              <a:rPr lang="el-GR" altLang="en-US" sz="1800" dirty="0" smtClean="0">
                <a:solidFill>
                  <a:srgbClr val="FFFF00"/>
                </a:solidFill>
              </a:rPr>
              <a:t>(πλεονεκτήματα)</a:t>
            </a:r>
            <a:endParaRPr lang="en-US" altLang="en-US" sz="1800" dirty="0" smtClean="0">
              <a:solidFill>
                <a:srgbClr val="FFFF00"/>
              </a:solidFill>
            </a:endParaRPr>
          </a:p>
        </p:txBody>
      </p:sp>
      <p:sp>
        <p:nvSpPr>
          <p:cNvPr id="7171" name="Rectangle 3"/>
          <p:cNvSpPr>
            <a:spLocks noGrp="1" noChangeArrowheads="1"/>
          </p:cNvSpPr>
          <p:nvPr>
            <p:ph type="body" idx="1"/>
          </p:nvPr>
        </p:nvSpPr>
        <p:spPr>
          <a:xfrm>
            <a:off x="457200" y="1214422"/>
            <a:ext cx="8229600" cy="3700463"/>
          </a:xfrm>
        </p:spPr>
        <p:txBody>
          <a:bodyPr/>
          <a:lstStyle/>
          <a:p>
            <a:pPr eaLnBrk="1" hangingPunct="1">
              <a:buNone/>
            </a:pPr>
            <a:endParaRPr lang="el-GR" sz="1400" b="1" dirty="0" smtClean="0">
              <a:solidFill>
                <a:srgbClr val="FFC000"/>
              </a:solidFill>
            </a:endParaRPr>
          </a:p>
          <a:p>
            <a:pPr algn="just" eaLnBrk="1" hangingPunct="1"/>
            <a:r>
              <a:rPr lang="el-GR" sz="1600" dirty="0" smtClean="0">
                <a:solidFill>
                  <a:srgbClr val="66FFFF"/>
                </a:solidFill>
              </a:rPr>
              <a:t>Η</a:t>
            </a:r>
            <a:r>
              <a:rPr lang="en-GB" sz="1600" dirty="0" smtClean="0">
                <a:solidFill>
                  <a:srgbClr val="66FFFF"/>
                </a:solidFill>
              </a:rPr>
              <a:t> </a:t>
            </a:r>
            <a:r>
              <a:rPr lang="el-GR" sz="1600" dirty="0" smtClean="0">
                <a:solidFill>
                  <a:srgbClr val="66FFFF"/>
                </a:solidFill>
              </a:rPr>
              <a:t>ιονόσφαιρα βλέπει όλη την περιοχή δράσης και όχι μόνο το σημείο μέτρησης όπως συμβαίνει στο έδαφος. Έτσι, αντιμετωπίζονται τα λάθη των εδαφικών μετρήσεων στα φυσικά και γεωχημικά πρόδρομα σε σχέση με άλλες μεθόδους (π.χ. μέθοδος ΒΑΝ). </a:t>
            </a:r>
          </a:p>
          <a:p>
            <a:pPr algn="just" eaLnBrk="1" hangingPunct="1"/>
            <a:endParaRPr lang="el-GR" sz="1600" dirty="0" smtClean="0">
              <a:solidFill>
                <a:srgbClr val="66FFFF"/>
              </a:solidFill>
            </a:endParaRPr>
          </a:p>
          <a:p>
            <a:pPr algn="just" eaLnBrk="1" hangingPunct="1"/>
            <a:r>
              <a:rPr lang="el-GR" sz="1600" dirty="0" smtClean="0">
                <a:solidFill>
                  <a:srgbClr val="66FFFF"/>
                </a:solidFill>
              </a:rPr>
              <a:t>Τα ιονοσφαιρικά πρόδρομα εμφανίζουν σταθερή χρονική κλίμακα εμφάνισης σε σύγκριση με άλλους τύπους πρόδρομων (1-12 ημέρες πριν την εκδήλωση του σεισμού).</a:t>
            </a:r>
          </a:p>
          <a:p>
            <a:pPr algn="just" eaLnBrk="1" hangingPunct="1"/>
            <a:endParaRPr lang="el-GR" sz="1600" dirty="0" smtClean="0">
              <a:solidFill>
                <a:srgbClr val="66FFFF"/>
              </a:solidFill>
            </a:endParaRPr>
          </a:p>
          <a:p>
            <a:pPr algn="just" eaLnBrk="1" hangingPunct="1"/>
            <a:r>
              <a:rPr lang="el-GR" sz="1600" dirty="0" smtClean="0">
                <a:solidFill>
                  <a:srgbClr val="66FFFF"/>
                </a:solidFill>
              </a:rPr>
              <a:t>Όσο πιο </a:t>
            </a:r>
            <a:r>
              <a:rPr lang="el-GR" sz="1600" dirty="0" smtClean="0">
                <a:solidFill>
                  <a:srgbClr val="66FFFF"/>
                </a:solidFill>
              </a:rPr>
              <a:t>ισχυρός είναι ο σεισμός, τόσο μεγαλύτερη είναι και η έκταση στην ιονόσφαιρα που </a:t>
            </a:r>
            <a:r>
              <a:rPr lang="el-GR" sz="1600" dirty="0" smtClean="0">
                <a:solidFill>
                  <a:srgbClr val="66FFFF"/>
                </a:solidFill>
              </a:rPr>
              <a:t>μεταβάλλεται </a:t>
            </a:r>
            <a:r>
              <a:rPr lang="el-GR" sz="1600" dirty="0" smtClean="0">
                <a:solidFill>
                  <a:srgbClr val="66FFFF"/>
                </a:solidFill>
                <a:sym typeface="Wingdings" pitchFamily="2" charset="2"/>
              </a:rPr>
              <a:t> </a:t>
            </a:r>
            <a:r>
              <a:rPr lang="el-GR" sz="1600" dirty="0" smtClean="0">
                <a:solidFill>
                  <a:srgbClr val="66FFFF"/>
                </a:solidFill>
              </a:rPr>
              <a:t>η </a:t>
            </a:r>
            <a:r>
              <a:rPr lang="el-GR" sz="1600" dirty="0" smtClean="0">
                <a:solidFill>
                  <a:srgbClr val="66FFFF"/>
                </a:solidFill>
              </a:rPr>
              <a:t>πιθανότητα αναγνώρισης των πρόδρομων αυξάνεται με την αύξηση του μεγέθους του </a:t>
            </a:r>
            <a:r>
              <a:rPr lang="el-GR" sz="1600" dirty="0" smtClean="0">
                <a:solidFill>
                  <a:srgbClr val="66FFFF"/>
                </a:solidFill>
              </a:rPr>
              <a:t>σεισμού.</a:t>
            </a:r>
            <a:endParaRPr lang="el-GR" sz="1600" dirty="0" smtClean="0">
              <a:solidFill>
                <a:srgbClr val="66FFFF"/>
              </a:solidFill>
            </a:endParaRPr>
          </a:p>
          <a:p>
            <a:pPr algn="just" eaLnBrk="1" hangingPunct="1"/>
            <a:endParaRPr lang="el-GR" sz="1600" dirty="0" smtClean="0">
              <a:solidFill>
                <a:srgbClr val="66FFFF"/>
              </a:solidFill>
            </a:endParaRPr>
          </a:p>
          <a:p>
            <a:pPr algn="just" eaLnBrk="1" hangingPunct="1"/>
            <a:r>
              <a:rPr lang="el-GR" sz="1600" dirty="0" smtClean="0">
                <a:solidFill>
                  <a:srgbClr val="66FFFF"/>
                </a:solidFill>
              </a:rPr>
              <a:t>Το μέγεθος του μελλοντικού σεισμού μπορεί να εκτιμηθεί από το μέγεθος στην ιονόσφαιρα όπου καταγράφονται ανώμαλες μεταβολές </a:t>
            </a:r>
            <a:r>
              <a:rPr lang="en-GB" sz="1600" dirty="0" smtClean="0">
                <a:solidFill>
                  <a:srgbClr val="66FFFF"/>
                </a:solidFill>
              </a:rPr>
              <a:t>TEC</a:t>
            </a:r>
            <a:r>
              <a:rPr lang="el-GR" sz="1600" dirty="0" smtClean="0">
                <a:solidFill>
                  <a:srgbClr val="66FFFF"/>
                </a:solidFill>
              </a:rPr>
              <a:t>,</a:t>
            </a:r>
            <a:r>
              <a:rPr lang="en-US" sz="1600" dirty="0" smtClean="0">
                <a:solidFill>
                  <a:srgbClr val="66FFFF"/>
                </a:solidFill>
              </a:rPr>
              <a:t> </a:t>
            </a:r>
            <a:r>
              <a:rPr lang="el-GR" sz="1600" dirty="0" smtClean="0">
                <a:solidFill>
                  <a:srgbClr val="66FFFF"/>
                </a:solidFill>
              </a:rPr>
              <a:t>σύμφωνα με την εξίσωση (1) </a:t>
            </a:r>
            <a:r>
              <a:rPr lang="en-GB" sz="1600" b="1" dirty="0" smtClean="0">
                <a:solidFill>
                  <a:schemeClr val="accent3"/>
                </a:solidFill>
              </a:rPr>
              <a:t>R=10^(0.43*M)</a:t>
            </a:r>
            <a:r>
              <a:rPr lang="el-GR" sz="1600" b="1" dirty="0" smtClean="0">
                <a:solidFill>
                  <a:schemeClr val="accent3"/>
                </a:solidFill>
              </a:rPr>
              <a:t> </a:t>
            </a:r>
            <a:endParaRPr lang="en-GB" sz="1600" dirty="0" smtClean="0">
              <a:solidFill>
                <a:srgbClr val="66FFFF"/>
              </a:solidFill>
            </a:endParaRPr>
          </a:p>
          <a:p>
            <a:pPr eaLnBrk="1" hangingPunct="1">
              <a:buNone/>
            </a:pPr>
            <a:endParaRPr lang="en-GB" altLang="en-US" sz="1400" b="1" dirty="0" smtClean="0"/>
          </a:p>
        </p:txBody>
      </p:sp>
    </p:spTree>
  </p:cSld>
  <p:clrMapOvr>
    <a:masterClrMapping/>
  </p:clrMapOvr>
  <p:transition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l-GR" altLang="en-US" sz="2000" dirty="0" smtClean="0">
                <a:solidFill>
                  <a:srgbClr val="FFFF00"/>
                </a:solidFill>
              </a:rPr>
              <a:t>Περιγραφή μεθόδου ανάλυσης χρονοσειρών </a:t>
            </a:r>
            <a:r>
              <a:rPr lang="en-GB" altLang="en-US" sz="2000" dirty="0" smtClean="0">
                <a:solidFill>
                  <a:srgbClr val="FFFF00"/>
                </a:solidFill>
              </a:rPr>
              <a:t>TEC</a:t>
            </a:r>
            <a:endParaRPr lang="en-US" altLang="en-US" sz="2000" dirty="0" smtClean="0">
              <a:solidFill>
                <a:srgbClr val="FFFF00"/>
              </a:solidFill>
            </a:endParaRPr>
          </a:p>
        </p:txBody>
      </p:sp>
      <p:sp>
        <p:nvSpPr>
          <p:cNvPr id="11267" name="Rectangle 3"/>
          <p:cNvSpPr>
            <a:spLocks noGrp="1" noChangeArrowheads="1"/>
          </p:cNvSpPr>
          <p:nvPr>
            <p:ph type="body" sz="half" idx="1"/>
          </p:nvPr>
        </p:nvSpPr>
        <p:spPr>
          <a:xfrm>
            <a:off x="457200" y="1000108"/>
            <a:ext cx="8329642" cy="3700463"/>
          </a:xfrm>
        </p:spPr>
        <p:txBody>
          <a:bodyPr/>
          <a:lstStyle/>
          <a:p>
            <a:pPr algn="just" eaLnBrk="1" hangingPunct="1">
              <a:buFont typeface="+mj-lt"/>
              <a:buAutoNum type="arabicPeriod"/>
            </a:pPr>
            <a:r>
              <a:rPr lang="el-GR" altLang="en-US" sz="1600" dirty="0" smtClean="0">
                <a:solidFill>
                  <a:srgbClr val="66FFFF"/>
                </a:solidFill>
              </a:rPr>
              <a:t>Μέσω κατάλληλου λογισμικού </a:t>
            </a:r>
            <a:r>
              <a:rPr lang="en-US" altLang="en-US" sz="1600" dirty="0" smtClean="0">
                <a:solidFill>
                  <a:srgbClr val="66FFFF"/>
                </a:solidFill>
              </a:rPr>
              <a:t>(IONOLAB-TEC by </a:t>
            </a:r>
            <a:r>
              <a:rPr lang="en-US" altLang="en-US" sz="1600" dirty="0" smtClean="0">
                <a:solidFill>
                  <a:srgbClr val="66FFFF"/>
                </a:solidFill>
              </a:rPr>
              <a:t>Prof.Dr. Feza </a:t>
            </a:r>
            <a:r>
              <a:rPr lang="en-US" altLang="en-US" sz="1600" dirty="0" smtClean="0">
                <a:solidFill>
                  <a:srgbClr val="66FFFF"/>
                </a:solidFill>
              </a:rPr>
              <a:t>Arikan – Hacettepe University of Turkey, Department of Electrical &amp; Computer Engineering) </a:t>
            </a:r>
            <a:r>
              <a:rPr lang="el-GR" altLang="en-US" sz="1600" dirty="0" smtClean="0">
                <a:solidFill>
                  <a:srgbClr val="66FFFF"/>
                </a:solidFill>
              </a:rPr>
              <a:t>υπολογίζεται για κάθε σταθμό η ημερήσια χρονοσειρά </a:t>
            </a:r>
            <a:r>
              <a:rPr lang="en-GB" altLang="en-US" sz="1600" dirty="0" smtClean="0">
                <a:solidFill>
                  <a:srgbClr val="66FFFF"/>
                </a:solidFill>
              </a:rPr>
              <a:t>TEC</a:t>
            </a:r>
            <a:r>
              <a:rPr lang="el-GR" altLang="en-US" sz="1600" dirty="0" smtClean="0">
                <a:solidFill>
                  <a:srgbClr val="66FFFF"/>
                </a:solidFill>
              </a:rPr>
              <a:t> με τιμές ανά </a:t>
            </a:r>
            <a:r>
              <a:rPr lang="en-US" altLang="en-US" sz="1600" dirty="0" smtClean="0">
                <a:solidFill>
                  <a:srgbClr val="66FFFF"/>
                </a:solidFill>
              </a:rPr>
              <a:t>2,5</a:t>
            </a:r>
            <a:r>
              <a:rPr lang="en-GB" altLang="en-US" sz="1600" dirty="0" smtClean="0">
                <a:solidFill>
                  <a:srgbClr val="66FFFF"/>
                </a:solidFill>
              </a:rPr>
              <a:t> min</a:t>
            </a:r>
            <a:r>
              <a:rPr lang="el-GR" altLang="en-US" sz="1600" dirty="0" smtClean="0">
                <a:solidFill>
                  <a:srgbClr val="66FFFF"/>
                </a:solidFill>
              </a:rPr>
              <a:t> και δεδομένα εισόδου τα αρχεία παρατηρήσεων και πλοήγησης (</a:t>
            </a:r>
            <a:r>
              <a:rPr lang="en-GB" altLang="en-US" sz="1600" dirty="0" smtClean="0">
                <a:solidFill>
                  <a:srgbClr val="66FFFF"/>
                </a:solidFill>
              </a:rPr>
              <a:t>rinex files </a:t>
            </a:r>
            <a:r>
              <a:rPr lang="el-GR" altLang="en-US" sz="1600" dirty="0" smtClean="0">
                <a:solidFill>
                  <a:srgbClr val="66FFFF"/>
                </a:solidFill>
              </a:rPr>
              <a:t>με βήμα 30</a:t>
            </a:r>
            <a:r>
              <a:rPr lang="en-GB" altLang="en-US" sz="1600" dirty="0" smtClean="0">
                <a:solidFill>
                  <a:srgbClr val="66FFFF"/>
                </a:solidFill>
              </a:rPr>
              <a:t>sec).</a:t>
            </a:r>
          </a:p>
          <a:p>
            <a:pPr algn="just" eaLnBrk="1" hangingPunct="1">
              <a:buFont typeface="+mj-lt"/>
              <a:buAutoNum type="arabicPeriod"/>
            </a:pPr>
            <a:endParaRPr lang="en-GB" altLang="en-US" sz="1600" dirty="0" smtClean="0">
              <a:solidFill>
                <a:srgbClr val="66FFFF"/>
              </a:solidFill>
            </a:endParaRPr>
          </a:p>
          <a:p>
            <a:pPr algn="just" eaLnBrk="1" hangingPunct="1">
              <a:buFont typeface="+mj-lt"/>
              <a:buAutoNum type="arabicPeriod"/>
            </a:pPr>
            <a:r>
              <a:rPr lang="en-GB" altLang="en-US" sz="1600" dirty="0" smtClean="0">
                <a:solidFill>
                  <a:srgbClr val="66FFFF"/>
                </a:solidFill>
              </a:rPr>
              <a:t>O </a:t>
            </a:r>
            <a:r>
              <a:rPr lang="el-GR" altLang="en-US" sz="1600" dirty="0" smtClean="0">
                <a:solidFill>
                  <a:srgbClr val="66FFFF"/>
                </a:solidFill>
              </a:rPr>
              <a:t>Ελλαδικός χώρος χωρίζεται σε επιμέρους ζώνες και για κάθε ζώνη επιλέγουμε ζεύγη σταθμών που απέχουν μεταξύ τους </a:t>
            </a:r>
            <a:r>
              <a:rPr lang="en-US" altLang="en-US" sz="1600" dirty="0" smtClean="0">
                <a:solidFill>
                  <a:srgbClr val="66FFFF"/>
                </a:solidFill>
              </a:rPr>
              <a:t>100-</a:t>
            </a:r>
            <a:r>
              <a:rPr lang="el-GR" altLang="en-US" sz="1600" dirty="0" smtClean="0">
                <a:solidFill>
                  <a:srgbClr val="66FFFF"/>
                </a:solidFill>
              </a:rPr>
              <a:t>150</a:t>
            </a:r>
            <a:r>
              <a:rPr lang="en-GB" altLang="en-US" sz="1600" dirty="0" smtClean="0">
                <a:solidFill>
                  <a:srgbClr val="66FFFF"/>
                </a:solidFill>
              </a:rPr>
              <a:t>km.</a:t>
            </a:r>
            <a:r>
              <a:rPr lang="en-US" altLang="en-US" sz="1600" dirty="0" smtClean="0">
                <a:solidFill>
                  <a:srgbClr val="66FFFF"/>
                </a:solidFill>
              </a:rPr>
              <a:t> </a:t>
            </a:r>
            <a:r>
              <a:rPr lang="el-GR" altLang="en-US" sz="1600" dirty="0" smtClean="0">
                <a:solidFill>
                  <a:srgbClr val="66FFFF"/>
                </a:solidFill>
              </a:rPr>
              <a:t>Για αποστάσεις &lt;100</a:t>
            </a:r>
            <a:r>
              <a:rPr lang="en-US" altLang="en-US" sz="1600" dirty="0" smtClean="0">
                <a:solidFill>
                  <a:srgbClr val="66FFFF"/>
                </a:solidFill>
              </a:rPr>
              <a:t>km</a:t>
            </a:r>
            <a:r>
              <a:rPr lang="el-GR" altLang="en-US" sz="1600" dirty="0" smtClean="0">
                <a:solidFill>
                  <a:srgbClr val="66FFFF"/>
                </a:solidFill>
              </a:rPr>
              <a:t> η </a:t>
            </a:r>
            <a:r>
              <a:rPr lang="en-US" altLang="en-US" sz="1600" dirty="0" smtClean="0">
                <a:solidFill>
                  <a:srgbClr val="66FFFF"/>
                </a:solidFill>
              </a:rPr>
              <a:t>TEC</a:t>
            </a:r>
            <a:r>
              <a:rPr lang="el-GR" altLang="en-US" sz="1600" dirty="0" smtClean="0">
                <a:solidFill>
                  <a:srgbClr val="66FFFF"/>
                </a:solidFill>
              </a:rPr>
              <a:t> μεταβολή λόγω σεισμού είναι αμελητέα, εκτός αν υπάρχει μεγάλη ανισοτροπία στη διάδοση της σεισμικής ενέργειας. Για αποστάσεις</a:t>
            </a:r>
            <a:r>
              <a:rPr lang="en-US" altLang="en-US" sz="1600" dirty="0" smtClean="0">
                <a:solidFill>
                  <a:srgbClr val="66FFFF"/>
                </a:solidFill>
              </a:rPr>
              <a:t> </a:t>
            </a:r>
            <a:r>
              <a:rPr lang="el-GR" altLang="en-US" sz="1600" dirty="0" smtClean="0">
                <a:solidFill>
                  <a:srgbClr val="66FFFF"/>
                </a:solidFill>
              </a:rPr>
              <a:t>&gt;150</a:t>
            </a:r>
            <a:r>
              <a:rPr lang="en-US" altLang="en-US" sz="1600" dirty="0" smtClean="0">
                <a:solidFill>
                  <a:srgbClr val="66FFFF"/>
                </a:solidFill>
              </a:rPr>
              <a:t>km</a:t>
            </a:r>
            <a:r>
              <a:rPr lang="el-GR" altLang="en-US" sz="1600" dirty="0" smtClean="0">
                <a:solidFill>
                  <a:srgbClr val="66FFFF"/>
                </a:solidFill>
              </a:rPr>
              <a:t>, υπάρχει εξ’ορισμού μεγάλη </a:t>
            </a:r>
            <a:r>
              <a:rPr lang="en-US" altLang="en-US" sz="1600" dirty="0" smtClean="0">
                <a:solidFill>
                  <a:srgbClr val="66FFFF"/>
                </a:solidFill>
              </a:rPr>
              <a:t>TEC</a:t>
            </a:r>
            <a:r>
              <a:rPr lang="el-GR" altLang="en-US" sz="1600" dirty="0" smtClean="0">
                <a:solidFill>
                  <a:srgbClr val="66FFFF"/>
                </a:solidFill>
              </a:rPr>
              <a:t> μεταβολή ακόμη και σε περιόδους χωρίς σεισμική δραστηριότητα.</a:t>
            </a:r>
          </a:p>
          <a:p>
            <a:pPr algn="just" eaLnBrk="1" hangingPunct="1">
              <a:buFont typeface="+mj-lt"/>
              <a:buAutoNum type="arabicPeriod"/>
            </a:pPr>
            <a:endParaRPr lang="el-GR" altLang="en-US" sz="1600" dirty="0" smtClean="0">
              <a:solidFill>
                <a:srgbClr val="66FFFF"/>
              </a:solidFill>
            </a:endParaRPr>
          </a:p>
          <a:p>
            <a:pPr algn="just" eaLnBrk="1" hangingPunct="1">
              <a:buFont typeface="+mj-lt"/>
              <a:buAutoNum type="arabicPeriod"/>
            </a:pPr>
            <a:r>
              <a:rPr lang="el-GR" altLang="en-US" sz="1600" dirty="0" smtClean="0">
                <a:solidFill>
                  <a:srgbClr val="66FFFF"/>
                </a:solidFill>
              </a:rPr>
              <a:t>Για κάθε ζεύγος υπολογίζεται ο </a:t>
            </a:r>
            <a:r>
              <a:rPr lang="el-GR" altLang="en-US" sz="1600" b="1" dirty="0" smtClean="0">
                <a:solidFill>
                  <a:srgbClr val="FFFFFF"/>
                </a:solidFill>
              </a:rPr>
              <a:t>ημερήσιος δείκτης σχετικής εντροπίας </a:t>
            </a:r>
            <a:r>
              <a:rPr lang="en-GB" altLang="en-US" sz="1600" b="1" dirty="0" smtClean="0">
                <a:solidFill>
                  <a:srgbClr val="FFFFFF"/>
                </a:solidFill>
              </a:rPr>
              <a:t>SKLD </a:t>
            </a:r>
            <a:r>
              <a:rPr lang="el-GR" altLang="en-US" sz="1600" b="1" dirty="0" smtClean="0">
                <a:solidFill>
                  <a:srgbClr val="FFFFFF"/>
                </a:solidFill>
              </a:rPr>
              <a:t>(</a:t>
            </a:r>
            <a:r>
              <a:rPr lang="en-GB" altLang="en-US" sz="1600" b="1" dirty="0" smtClean="0">
                <a:solidFill>
                  <a:srgbClr val="FFFFFF"/>
                </a:solidFill>
              </a:rPr>
              <a:t>Symmetric Kullback Leibler Divergence) </a:t>
            </a:r>
            <a:r>
              <a:rPr lang="el-GR" altLang="en-US" sz="1600" dirty="0" smtClean="0">
                <a:solidFill>
                  <a:srgbClr val="66FFFF"/>
                </a:solidFill>
              </a:rPr>
              <a:t>μεταξύ των χρονοσειρών των 2 σταθμών που αναπαριστά την </a:t>
            </a:r>
            <a:r>
              <a:rPr lang="en-US" altLang="en-US" sz="1600" dirty="0" smtClean="0">
                <a:solidFill>
                  <a:srgbClr val="66FFFF"/>
                </a:solidFill>
              </a:rPr>
              <a:t>TEC</a:t>
            </a:r>
            <a:r>
              <a:rPr lang="el-GR" altLang="en-US" sz="1600" dirty="0" smtClean="0">
                <a:solidFill>
                  <a:srgbClr val="66FFFF"/>
                </a:solidFill>
              </a:rPr>
              <a:t> μεταβολή μεταξύ τους. Όσο πιο μεγάλες οι τιμές του </a:t>
            </a:r>
            <a:r>
              <a:rPr lang="en-GB" altLang="en-US" sz="1600" dirty="0" smtClean="0">
                <a:solidFill>
                  <a:srgbClr val="66FFFF"/>
                </a:solidFill>
              </a:rPr>
              <a:t>SKLD</a:t>
            </a:r>
            <a:r>
              <a:rPr lang="el-GR" altLang="en-US" sz="1600" dirty="0" smtClean="0">
                <a:solidFill>
                  <a:srgbClr val="66FFFF"/>
                </a:solidFill>
              </a:rPr>
              <a:t>, τόσο μικρότερη είναι η συσχέτιση μεταξύ των σταθμών. Σε περιόδους μαγνητικών-ηλιακών διαταραχών (περίπτωση Α) ή όταν δεν παρατηρείται σεισμική δραστηριότητα (περίπτωση Β), το </a:t>
            </a:r>
            <a:r>
              <a:rPr lang="en-GB" altLang="en-US" sz="1600" dirty="0" smtClean="0">
                <a:solidFill>
                  <a:srgbClr val="66FFFF"/>
                </a:solidFill>
              </a:rPr>
              <a:t>SKLD</a:t>
            </a:r>
            <a:r>
              <a:rPr lang="en-US" altLang="en-US" sz="1600" dirty="0" smtClean="0">
                <a:solidFill>
                  <a:srgbClr val="66FFFF"/>
                </a:solidFill>
              </a:rPr>
              <a:t> </a:t>
            </a:r>
            <a:r>
              <a:rPr lang="el-GR" altLang="en-US" sz="1600" dirty="0" smtClean="0">
                <a:solidFill>
                  <a:srgbClr val="66FFFF"/>
                </a:solidFill>
              </a:rPr>
              <a:t>έχει χαμηλές τιμές. Στην περίπτωση Α, οι χαμηλές τιμές οφείλονται στο γεγονός οτι οι διαταραχές αυτές καταλαμβάνουν μεγάλες εκτάσεις στην ιονόσφαιρα, ήτοι για αποστάσεις μεταξύ δύο τυχαίων σημείων μέχρι 150</a:t>
            </a:r>
            <a:r>
              <a:rPr lang="en-GB" altLang="en-US" sz="1600" dirty="0" smtClean="0">
                <a:solidFill>
                  <a:srgbClr val="66FFFF"/>
                </a:solidFill>
              </a:rPr>
              <a:t>km,</a:t>
            </a:r>
            <a:r>
              <a:rPr lang="el-GR" altLang="en-US" sz="1600" dirty="0" smtClean="0">
                <a:solidFill>
                  <a:srgbClr val="66FFFF"/>
                </a:solidFill>
              </a:rPr>
              <a:t> η </a:t>
            </a:r>
            <a:r>
              <a:rPr lang="en-GB" altLang="en-US" sz="1600" dirty="0" smtClean="0">
                <a:solidFill>
                  <a:srgbClr val="66FFFF"/>
                </a:solidFill>
              </a:rPr>
              <a:t>TEC</a:t>
            </a:r>
            <a:r>
              <a:rPr lang="en-US" altLang="en-US" sz="1600" dirty="0" smtClean="0">
                <a:solidFill>
                  <a:srgbClr val="66FFFF"/>
                </a:solidFill>
              </a:rPr>
              <a:t> </a:t>
            </a:r>
            <a:r>
              <a:rPr lang="el-GR" altLang="en-US" sz="1600" dirty="0" smtClean="0">
                <a:solidFill>
                  <a:srgbClr val="66FFFF"/>
                </a:solidFill>
              </a:rPr>
              <a:t>μεταβολή είναι σχεδόν ομοιόμορφη. </a:t>
            </a:r>
            <a:r>
              <a:rPr lang="el-GR" altLang="en-US" sz="1600" b="1" u="sng" dirty="0" smtClean="0">
                <a:solidFill>
                  <a:schemeClr val="bg1"/>
                </a:solidFill>
              </a:rPr>
              <a:t>Όταν επίκειται σεισμός οι τιμές </a:t>
            </a:r>
            <a:r>
              <a:rPr lang="en-GB" altLang="en-US" sz="1600" b="1" u="sng" dirty="0" smtClean="0">
                <a:solidFill>
                  <a:schemeClr val="bg1"/>
                </a:solidFill>
              </a:rPr>
              <a:t>SKLD </a:t>
            </a:r>
            <a:r>
              <a:rPr lang="el-GR" altLang="en-US" sz="1600" b="1" u="sng" dirty="0" smtClean="0">
                <a:solidFill>
                  <a:schemeClr val="bg1"/>
                </a:solidFill>
              </a:rPr>
              <a:t>αυξάνονται, επειδή στην περίπτωση αυτή ένας από τους 2 σταθμούς βρίσκεται υπό την επίδραση τοπικά ανώμαλου ηλεκτρικού πεδίου</a:t>
            </a:r>
            <a:r>
              <a:rPr lang="el-GR" altLang="en-US" sz="1600" dirty="0" smtClean="0">
                <a:solidFill>
                  <a:srgbClr val="66FFFF"/>
                </a:solidFill>
              </a:rPr>
              <a:t>. </a:t>
            </a:r>
            <a:endParaRPr lang="en-US" altLang="en-US" sz="1600" dirty="0" smtClean="0">
              <a:solidFill>
                <a:srgbClr val="66FFFF"/>
              </a:solidFill>
            </a:endParaRPr>
          </a:p>
          <a:p>
            <a:pPr algn="just" eaLnBrk="1" hangingPunct="1">
              <a:buFont typeface="+mj-lt"/>
              <a:buAutoNum type="arabicPeriod"/>
            </a:pPr>
            <a:endParaRPr lang="en-GB" altLang="en-US" sz="1600" dirty="0" smtClean="0">
              <a:solidFill>
                <a:srgbClr val="66FFFF"/>
              </a:solidFill>
            </a:endParaRPr>
          </a:p>
          <a:p>
            <a:pPr algn="just" eaLnBrk="1" hangingPunct="1">
              <a:buFont typeface="+mj-lt"/>
              <a:buAutoNum type="arabicPeriod"/>
            </a:pPr>
            <a:endParaRPr lang="en-GB" altLang="en-US" sz="1600" dirty="0" smtClean="0">
              <a:solidFill>
                <a:srgbClr val="66FFFF"/>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l-GR" altLang="en-US" sz="2000" dirty="0" smtClean="0">
                <a:solidFill>
                  <a:srgbClr val="FFFF00"/>
                </a:solidFill>
              </a:rPr>
              <a:t>Περιγραφή μεθόδου ανάλυσης χρονοσειρών </a:t>
            </a:r>
            <a:r>
              <a:rPr lang="en-GB" altLang="en-US" sz="2000" dirty="0" smtClean="0">
                <a:solidFill>
                  <a:srgbClr val="FFFF00"/>
                </a:solidFill>
              </a:rPr>
              <a:t>TEC</a:t>
            </a:r>
            <a:endParaRPr lang="en-US" altLang="en-US" sz="2000" dirty="0" smtClean="0">
              <a:solidFill>
                <a:srgbClr val="FFFF00"/>
              </a:solidFill>
            </a:endParaRPr>
          </a:p>
        </p:txBody>
      </p:sp>
      <p:sp>
        <p:nvSpPr>
          <p:cNvPr id="11267" name="Rectangle 3"/>
          <p:cNvSpPr>
            <a:spLocks noGrp="1" noChangeArrowheads="1"/>
          </p:cNvSpPr>
          <p:nvPr>
            <p:ph type="body" sz="half" idx="1"/>
          </p:nvPr>
        </p:nvSpPr>
        <p:spPr>
          <a:xfrm>
            <a:off x="457200" y="1285860"/>
            <a:ext cx="8329642" cy="3700463"/>
          </a:xfrm>
        </p:spPr>
        <p:txBody>
          <a:bodyPr/>
          <a:lstStyle/>
          <a:p>
            <a:pPr algn="just" eaLnBrk="1" hangingPunct="1">
              <a:buFont typeface="+mj-lt"/>
              <a:buAutoNum type="arabicPeriod" startAt="4"/>
            </a:pPr>
            <a:r>
              <a:rPr lang="el-GR" altLang="en-US" sz="1600" dirty="0" smtClean="0">
                <a:solidFill>
                  <a:srgbClr val="66FFFF"/>
                </a:solidFill>
              </a:rPr>
              <a:t>Οι κρίσιμες τιμές του </a:t>
            </a:r>
            <a:r>
              <a:rPr lang="en-GB" altLang="en-US" sz="1600" dirty="0" smtClean="0">
                <a:solidFill>
                  <a:srgbClr val="66FFFF"/>
                </a:solidFill>
              </a:rPr>
              <a:t>SKLD</a:t>
            </a:r>
            <a:r>
              <a:rPr lang="el-GR" altLang="en-US" sz="1600" dirty="0" smtClean="0">
                <a:solidFill>
                  <a:srgbClr val="66FFFF"/>
                </a:solidFill>
              </a:rPr>
              <a:t> ανά ζώνη εξαρτώνται από πληθώρα παραμέτρων, όπως είναι τα χαρακτηριστικά και οι διαστάσεις του ρήγματος, το εστιακό </a:t>
            </a:r>
            <a:r>
              <a:rPr lang="el-GR" altLang="en-US" sz="1600" dirty="0" smtClean="0">
                <a:solidFill>
                  <a:srgbClr val="66FFFF"/>
                </a:solidFill>
              </a:rPr>
              <a:t>βάθος, </a:t>
            </a:r>
            <a:r>
              <a:rPr lang="el-GR" altLang="en-US" sz="1600" dirty="0" smtClean="0">
                <a:solidFill>
                  <a:srgbClr val="66FFFF"/>
                </a:solidFill>
              </a:rPr>
              <a:t>η σχετική θέση του επικέντρου ως προς τους σταθμούς του ζεύγους, το συσσωρευμένο ενεργειακό δυναμικό και η κατευθυντικότητα </a:t>
            </a:r>
            <a:r>
              <a:rPr lang="el-GR" altLang="en-US" sz="1600" b="1" dirty="0" smtClean="0">
                <a:solidFill>
                  <a:srgbClr val="FFFFFF"/>
                </a:solidFill>
              </a:rPr>
              <a:t>(</a:t>
            </a:r>
            <a:r>
              <a:rPr lang="en-GB" altLang="en-US" sz="1600" b="1" dirty="0" smtClean="0">
                <a:solidFill>
                  <a:srgbClr val="FFFFFF"/>
                </a:solidFill>
              </a:rPr>
              <a:t>directivity effect) </a:t>
            </a:r>
            <a:r>
              <a:rPr lang="en-GB" altLang="en-US" sz="1600" dirty="0" smtClean="0">
                <a:solidFill>
                  <a:srgbClr val="66FFFF"/>
                </a:solidFill>
              </a:rPr>
              <a:t>– </a:t>
            </a:r>
            <a:r>
              <a:rPr lang="el-GR" altLang="en-US" sz="1600" dirty="0" smtClean="0">
                <a:solidFill>
                  <a:srgbClr val="66FFFF"/>
                </a:solidFill>
              </a:rPr>
              <a:t>στο βόρειο ημισφαίριο το </a:t>
            </a:r>
            <a:r>
              <a:rPr lang="el-GR" altLang="en-US" sz="1600" dirty="0" smtClean="0">
                <a:solidFill>
                  <a:srgbClr val="66FFFF"/>
                </a:solidFill>
              </a:rPr>
              <a:t>γεωμαγνητικό πεδίο δεν επιτρέπει συνήθως την διάδοση των </a:t>
            </a:r>
            <a:r>
              <a:rPr lang="el-GR" altLang="en-US" sz="1600" dirty="0" smtClean="0">
                <a:solidFill>
                  <a:srgbClr val="66FFFF"/>
                </a:solidFill>
              </a:rPr>
              <a:t>σεισμο-ιονοσφαιρικών  ανωμαλιών προς </a:t>
            </a:r>
            <a:r>
              <a:rPr lang="el-GR" altLang="en-US" sz="1600" dirty="0" smtClean="0">
                <a:solidFill>
                  <a:srgbClr val="66FFFF"/>
                </a:solidFill>
              </a:rPr>
              <a:t>τα Β-ΒΑ.</a:t>
            </a:r>
          </a:p>
          <a:p>
            <a:pPr algn="just" eaLnBrk="1" hangingPunct="1">
              <a:buFont typeface="+mj-lt"/>
              <a:buAutoNum type="arabicPeriod" startAt="4"/>
            </a:pPr>
            <a:endParaRPr lang="el-GR" altLang="en-US" sz="1600" dirty="0" smtClean="0">
              <a:solidFill>
                <a:srgbClr val="66FFFF"/>
              </a:solidFill>
            </a:endParaRPr>
          </a:p>
          <a:p>
            <a:pPr algn="just" eaLnBrk="1" hangingPunct="1">
              <a:buFont typeface="+mj-lt"/>
              <a:buAutoNum type="arabicPeriod" startAt="4"/>
            </a:pPr>
            <a:r>
              <a:rPr lang="el-GR" altLang="en-US" sz="1600" dirty="0" smtClean="0">
                <a:solidFill>
                  <a:srgbClr val="66FFFF"/>
                </a:solidFill>
              </a:rPr>
              <a:t>Η υπέρβαση του δείκτη </a:t>
            </a:r>
            <a:r>
              <a:rPr lang="en-GB" altLang="en-US" sz="1600" dirty="0" smtClean="0">
                <a:solidFill>
                  <a:srgbClr val="66FFFF"/>
                </a:solidFill>
              </a:rPr>
              <a:t>SKLD</a:t>
            </a:r>
            <a:r>
              <a:rPr lang="en-US" altLang="en-US" sz="1600" dirty="0" smtClean="0">
                <a:solidFill>
                  <a:srgbClr val="66FFFF"/>
                </a:solidFill>
              </a:rPr>
              <a:t> </a:t>
            </a:r>
            <a:r>
              <a:rPr lang="el-GR" altLang="en-US" sz="1600" dirty="0" smtClean="0">
                <a:solidFill>
                  <a:srgbClr val="66FFFF"/>
                </a:solidFill>
              </a:rPr>
              <a:t>σε ένα ζεύγος αποτελεί ένδειξη για επικείμενο σεισμό ≥4,5</a:t>
            </a:r>
            <a:r>
              <a:rPr lang="en-GB" altLang="en-US" sz="1600" dirty="0" smtClean="0">
                <a:solidFill>
                  <a:srgbClr val="66FFFF"/>
                </a:solidFill>
              </a:rPr>
              <a:t>R </a:t>
            </a:r>
            <a:r>
              <a:rPr lang="el-GR" altLang="en-US" sz="1600" dirty="0" smtClean="0">
                <a:solidFill>
                  <a:srgbClr val="66FFFF"/>
                </a:solidFill>
              </a:rPr>
              <a:t>σε 1-12 ημέρες με επίκεντρο εντός της ευρύτερης περιοχής που οριοθετείται από τους σταθμούς του ζεύγους. Σύμφωνα με την εξίσωση (1), όσο πιο πολλοί σταθμοί επηρεαστούν (μεγάλο </a:t>
            </a:r>
            <a:r>
              <a:rPr lang="en-GB" altLang="en-US" sz="1600" dirty="0" smtClean="0">
                <a:solidFill>
                  <a:srgbClr val="66FFFF"/>
                </a:solidFill>
              </a:rPr>
              <a:t>R),</a:t>
            </a:r>
            <a:r>
              <a:rPr lang="el-GR" altLang="en-US" sz="1600" dirty="0" smtClean="0">
                <a:solidFill>
                  <a:srgbClr val="66FFFF"/>
                </a:solidFill>
              </a:rPr>
              <a:t> τόσο πιο ισχυρός θα είναι ο σεισμός.</a:t>
            </a:r>
          </a:p>
          <a:p>
            <a:pPr algn="just" eaLnBrk="1" hangingPunct="1">
              <a:buFont typeface="+mj-lt"/>
              <a:buAutoNum type="arabicPeriod" startAt="4"/>
            </a:pPr>
            <a:endParaRPr lang="en-GB" altLang="en-US" sz="1600" dirty="0" smtClean="0">
              <a:solidFill>
                <a:srgbClr val="66FFFF"/>
              </a:solidFill>
            </a:endParaRPr>
          </a:p>
          <a:p>
            <a:pPr algn="just" eaLnBrk="1" hangingPunct="1">
              <a:buNone/>
            </a:pPr>
            <a:endParaRPr lang="en-GB" altLang="en-US" sz="1600" dirty="0" smtClean="0">
              <a:solidFill>
                <a:srgbClr val="66FFFF"/>
              </a:solidFill>
            </a:endParaRPr>
          </a:p>
        </p:txBody>
      </p:sp>
      <p:pic>
        <p:nvPicPr>
          <p:cNvPr id="4" name="Picture 3" descr="skld.png"/>
          <p:cNvPicPr>
            <a:picLocks noChangeAspect="1"/>
          </p:cNvPicPr>
          <p:nvPr/>
        </p:nvPicPr>
        <p:blipFill>
          <a:blip r:embed="rId3"/>
          <a:stretch>
            <a:fillRect/>
          </a:stretch>
        </p:blipFill>
        <p:spPr>
          <a:xfrm>
            <a:off x="2000232" y="4267021"/>
            <a:ext cx="4867275" cy="1390650"/>
          </a:xfrm>
          <a:prstGeom prst="rect">
            <a:avLst/>
          </a:prstGeom>
        </p:spPr>
      </p:pic>
      <p:sp>
        <p:nvSpPr>
          <p:cNvPr id="5" name="TextBox 4"/>
          <p:cNvSpPr txBox="1"/>
          <p:nvPr/>
        </p:nvSpPr>
        <p:spPr>
          <a:xfrm>
            <a:off x="2214546" y="5657671"/>
            <a:ext cx="4295771" cy="1200329"/>
          </a:xfrm>
          <a:prstGeom prst="rect">
            <a:avLst/>
          </a:prstGeom>
          <a:noFill/>
        </p:spPr>
        <p:txBody>
          <a:bodyPr wrap="square" rtlCol="0">
            <a:spAutoFit/>
          </a:bodyPr>
          <a:lstStyle/>
          <a:p>
            <a:pPr algn="ctr"/>
            <a:r>
              <a:rPr lang="en-GB" sz="2400" b="1" dirty="0" smtClean="0">
                <a:solidFill>
                  <a:schemeClr val="bg1"/>
                </a:solidFill>
              </a:rPr>
              <a:t>SKLD = D(f//g) + D(g//f)</a:t>
            </a:r>
          </a:p>
          <a:p>
            <a:pPr algn="ctr"/>
            <a:r>
              <a:rPr lang="el-GR" sz="1600" b="1" dirty="0" smtClean="0">
                <a:solidFill>
                  <a:schemeClr val="bg1"/>
                </a:solidFill>
              </a:rPr>
              <a:t>όπου </a:t>
            </a:r>
            <a:r>
              <a:rPr lang="en-GB" sz="1600" b="1" dirty="0" smtClean="0">
                <a:solidFill>
                  <a:schemeClr val="bg1"/>
                </a:solidFill>
              </a:rPr>
              <a:t>f,g </a:t>
            </a:r>
            <a:r>
              <a:rPr lang="el-GR" sz="1600" b="1" dirty="0" smtClean="0">
                <a:solidFill>
                  <a:schemeClr val="bg1"/>
                </a:solidFill>
              </a:rPr>
              <a:t>οι πιθανοτικές κατανομές των χρονοσειρών </a:t>
            </a:r>
            <a:r>
              <a:rPr lang="en-GB" sz="1600" b="1" dirty="0" smtClean="0">
                <a:solidFill>
                  <a:schemeClr val="bg1"/>
                </a:solidFill>
              </a:rPr>
              <a:t>TEC </a:t>
            </a:r>
            <a:r>
              <a:rPr lang="el-GR" sz="1600" b="1" dirty="0" smtClean="0">
                <a:solidFill>
                  <a:schemeClr val="bg1"/>
                </a:solidFill>
              </a:rPr>
              <a:t>των σταθμών έκαστου ζεύγους</a:t>
            </a:r>
            <a:endParaRPr lang="el-GR" sz="1600" b="1" dirty="0">
              <a:solidFill>
                <a:schemeClr val="bg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143000"/>
          </a:xfrm>
        </p:spPr>
        <p:txBody>
          <a:bodyPr/>
          <a:lstStyle/>
          <a:p>
            <a:pPr eaLnBrk="1" hangingPunct="1"/>
            <a:r>
              <a:rPr lang="el-GR" altLang="en-US" sz="2400" dirty="0" smtClean="0">
                <a:solidFill>
                  <a:srgbClr val="FFFF00"/>
                </a:solidFill>
              </a:rPr>
              <a:t>Χρονοσειρές </a:t>
            </a:r>
            <a:r>
              <a:rPr lang="en-GB" altLang="en-US" sz="2400" dirty="0" smtClean="0">
                <a:solidFill>
                  <a:srgbClr val="FFFF00"/>
                </a:solidFill>
              </a:rPr>
              <a:t>TEC </a:t>
            </a:r>
            <a:r>
              <a:rPr lang="el-GR" altLang="en-US" sz="2400" dirty="0" smtClean="0">
                <a:solidFill>
                  <a:srgbClr val="FFFF00"/>
                </a:solidFill>
              </a:rPr>
              <a:t>σε ήρεμη περίοδο</a:t>
            </a:r>
            <a:r>
              <a:rPr lang="en-GB" altLang="en-US" sz="2400" dirty="0" smtClean="0">
                <a:solidFill>
                  <a:srgbClr val="FFFF00"/>
                </a:solidFill>
              </a:rPr>
              <a:t/>
            </a:r>
            <a:br>
              <a:rPr lang="en-GB" altLang="en-US" sz="2400" dirty="0" smtClean="0">
                <a:solidFill>
                  <a:srgbClr val="FFFF00"/>
                </a:solidFill>
              </a:rPr>
            </a:br>
            <a:r>
              <a:rPr lang="el-GR" altLang="en-US" sz="1600" dirty="0" smtClean="0">
                <a:solidFill>
                  <a:srgbClr val="FFFF00"/>
                </a:solidFill>
              </a:rPr>
              <a:t>(υψηλή συσχέτιση</a:t>
            </a:r>
            <a:r>
              <a:rPr lang="en-GB" altLang="en-US" sz="1600" dirty="0" smtClean="0">
                <a:solidFill>
                  <a:srgbClr val="FFFF00"/>
                </a:solidFill>
              </a:rPr>
              <a:t> </a:t>
            </a:r>
            <a:r>
              <a:rPr lang="el-GR" altLang="en-US" sz="1600" dirty="0" smtClean="0">
                <a:solidFill>
                  <a:srgbClr val="FFFF00"/>
                </a:solidFill>
                <a:sym typeface="Wingdings" pitchFamily="2" charset="2"/>
              </a:rPr>
              <a:t></a:t>
            </a:r>
            <a:r>
              <a:rPr lang="en-GB" altLang="en-US" sz="1600" dirty="0" smtClean="0">
                <a:solidFill>
                  <a:srgbClr val="FFFF00"/>
                </a:solidFill>
              </a:rPr>
              <a:t> </a:t>
            </a:r>
            <a:r>
              <a:rPr lang="el-GR" altLang="en-US" sz="1600" dirty="0" smtClean="0">
                <a:solidFill>
                  <a:srgbClr val="FFFF00"/>
                </a:solidFill>
              </a:rPr>
              <a:t>μικρές τιμές </a:t>
            </a:r>
            <a:r>
              <a:rPr lang="en-GB" altLang="en-US" sz="1600" dirty="0" smtClean="0">
                <a:solidFill>
                  <a:srgbClr val="FFFF00"/>
                </a:solidFill>
              </a:rPr>
              <a:t>SKLD)</a:t>
            </a:r>
            <a:endParaRPr lang="en-US" altLang="en-US" sz="1600" dirty="0" smtClean="0">
              <a:solidFill>
                <a:srgbClr val="FFFF00"/>
              </a:solidFill>
            </a:endParaRPr>
          </a:p>
        </p:txBody>
      </p:sp>
      <p:pic>
        <p:nvPicPr>
          <p:cNvPr id="4" name="Picture 3" descr="cewolf (2).png"/>
          <p:cNvPicPr>
            <a:picLocks noChangeAspect="1"/>
          </p:cNvPicPr>
          <p:nvPr/>
        </p:nvPicPr>
        <p:blipFill>
          <a:blip r:embed="rId3"/>
          <a:stretch>
            <a:fillRect/>
          </a:stretch>
        </p:blipFill>
        <p:spPr>
          <a:xfrm>
            <a:off x="1071538" y="1285860"/>
            <a:ext cx="6934200" cy="49530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143000"/>
          </a:xfrm>
        </p:spPr>
        <p:txBody>
          <a:bodyPr/>
          <a:lstStyle/>
          <a:p>
            <a:pPr eaLnBrk="1" hangingPunct="1"/>
            <a:r>
              <a:rPr lang="el-GR" altLang="en-US" sz="2400" dirty="0" smtClean="0">
                <a:solidFill>
                  <a:srgbClr val="FFFF00"/>
                </a:solidFill>
              </a:rPr>
              <a:t>Χρονοσειρές </a:t>
            </a:r>
            <a:r>
              <a:rPr lang="en-GB" altLang="en-US" sz="2400" dirty="0" smtClean="0">
                <a:solidFill>
                  <a:srgbClr val="FFFF00"/>
                </a:solidFill>
              </a:rPr>
              <a:t>TEC </a:t>
            </a:r>
            <a:r>
              <a:rPr lang="el-GR" altLang="en-US" sz="2400" dirty="0" smtClean="0">
                <a:solidFill>
                  <a:srgbClr val="FFFF00"/>
                </a:solidFill>
              </a:rPr>
              <a:t>- 3 ημέρες πριν από το σεισμό 6.1</a:t>
            </a:r>
            <a:r>
              <a:rPr lang="en-GB" altLang="en-US" sz="2400" dirty="0" smtClean="0">
                <a:solidFill>
                  <a:srgbClr val="FFFF00"/>
                </a:solidFill>
              </a:rPr>
              <a:t>R</a:t>
            </a:r>
            <a:r>
              <a:rPr lang="el-GR" altLang="en-US" sz="2400" dirty="0" smtClean="0">
                <a:solidFill>
                  <a:srgbClr val="FFFF00"/>
                </a:solidFill>
              </a:rPr>
              <a:t> στην Κεφαλονιά στις 26-01-2014</a:t>
            </a:r>
            <a:br>
              <a:rPr lang="el-GR" altLang="en-US" sz="2400" dirty="0" smtClean="0">
                <a:solidFill>
                  <a:srgbClr val="FFFF00"/>
                </a:solidFill>
              </a:rPr>
            </a:br>
            <a:r>
              <a:rPr lang="el-GR" altLang="en-US" sz="1600" dirty="0" smtClean="0">
                <a:solidFill>
                  <a:srgbClr val="FFFF00"/>
                </a:solidFill>
              </a:rPr>
              <a:t>(μεγάλες αποκλίσεις στον σταθμό </a:t>
            </a:r>
            <a:r>
              <a:rPr lang="en-GB" altLang="en-US" sz="1600" dirty="0" smtClean="0">
                <a:solidFill>
                  <a:srgbClr val="FFFF00"/>
                </a:solidFill>
              </a:rPr>
              <a:t>vlsm</a:t>
            </a:r>
            <a:r>
              <a:rPr lang="en-US" altLang="en-US" sz="1600" dirty="0" smtClean="0">
                <a:solidFill>
                  <a:srgbClr val="FFFF00"/>
                </a:solidFill>
              </a:rPr>
              <a:t> </a:t>
            </a:r>
            <a:r>
              <a:rPr lang="el-GR" altLang="en-US" sz="1600" dirty="0" smtClean="0">
                <a:solidFill>
                  <a:srgbClr val="FFFF00"/>
                </a:solidFill>
              </a:rPr>
              <a:t>στις 0-4</a:t>
            </a:r>
            <a:r>
              <a:rPr lang="en-GB" altLang="en-US" sz="1600" dirty="0" smtClean="0">
                <a:solidFill>
                  <a:srgbClr val="FFFF00"/>
                </a:solidFill>
              </a:rPr>
              <a:t>am</a:t>
            </a:r>
            <a:r>
              <a:rPr lang="en-US" altLang="en-US" sz="1600" dirty="0" smtClean="0">
                <a:solidFill>
                  <a:srgbClr val="FFFF00"/>
                </a:solidFill>
              </a:rPr>
              <a:t> </a:t>
            </a:r>
            <a:r>
              <a:rPr lang="el-GR" altLang="en-US" sz="1600" dirty="0" smtClean="0">
                <a:solidFill>
                  <a:srgbClr val="FFFF00"/>
                </a:solidFill>
              </a:rPr>
              <a:t>και 4-12</a:t>
            </a:r>
            <a:r>
              <a:rPr lang="en-GB" altLang="en-US" sz="1600" dirty="0" smtClean="0">
                <a:solidFill>
                  <a:srgbClr val="FFFF00"/>
                </a:solidFill>
              </a:rPr>
              <a:t>pm</a:t>
            </a:r>
            <a:r>
              <a:rPr lang="el-GR" altLang="en-US" sz="1600" dirty="0" smtClean="0">
                <a:solidFill>
                  <a:srgbClr val="FFFF00"/>
                </a:solidFill>
              </a:rPr>
              <a:t>)</a:t>
            </a:r>
            <a:r>
              <a:rPr lang="en-GB" altLang="en-US" sz="1600" dirty="0" smtClean="0">
                <a:solidFill>
                  <a:srgbClr val="FFFF00"/>
                </a:solidFill>
              </a:rPr>
              <a:t/>
            </a:r>
            <a:br>
              <a:rPr lang="en-GB" altLang="en-US" sz="1600" dirty="0" smtClean="0">
                <a:solidFill>
                  <a:srgbClr val="FFFF00"/>
                </a:solidFill>
              </a:rPr>
            </a:br>
            <a:endParaRPr lang="en-US" altLang="en-US" sz="1600" dirty="0" smtClean="0">
              <a:solidFill>
                <a:srgbClr val="FFFF00"/>
              </a:solidFill>
            </a:endParaRPr>
          </a:p>
        </p:txBody>
      </p:sp>
      <p:pic>
        <p:nvPicPr>
          <p:cNvPr id="6" name="Picture 5" descr="cewolf.png"/>
          <p:cNvPicPr>
            <a:picLocks noChangeAspect="1"/>
          </p:cNvPicPr>
          <p:nvPr/>
        </p:nvPicPr>
        <p:blipFill>
          <a:blip r:embed="rId3"/>
          <a:stretch>
            <a:fillRect/>
          </a:stretch>
        </p:blipFill>
        <p:spPr>
          <a:xfrm>
            <a:off x="0" y="1417638"/>
            <a:ext cx="4533900" cy="3238500"/>
          </a:xfrm>
          <a:prstGeom prst="rect">
            <a:avLst/>
          </a:prstGeom>
        </p:spPr>
      </p:pic>
      <p:pic>
        <p:nvPicPr>
          <p:cNvPr id="9" name="Picture 8" descr="cewolf (1).png"/>
          <p:cNvPicPr>
            <a:picLocks noChangeAspect="1"/>
          </p:cNvPicPr>
          <p:nvPr/>
        </p:nvPicPr>
        <p:blipFill>
          <a:blip r:embed="rId4"/>
          <a:stretch>
            <a:fillRect/>
          </a:stretch>
        </p:blipFill>
        <p:spPr>
          <a:xfrm>
            <a:off x="4610100" y="1417638"/>
            <a:ext cx="4533900" cy="3238500"/>
          </a:xfrm>
          <a:prstGeom prst="rect">
            <a:avLst/>
          </a:prstGeom>
        </p:spPr>
      </p:pic>
      <p:sp>
        <p:nvSpPr>
          <p:cNvPr id="10" name="TextBox 9"/>
          <p:cNvSpPr txBox="1"/>
          <p:nvPr/>
        </p:nvSpPr>
        <p:spPr>
          <a:xfrm>
            <a:off x="1214414" y="4857760"/>
            <a:ext cx="2786082" cy="369332"/>
          </a:xfrm>
          <a:prstGeom prst="rect">
            <a:avLst/>
          </a:prstGeom>
          <a:noFill/>
        </p:spPr>
        <p:txBody>
          <a:bodyPr wrap="square" rtlCol="0">
            <a:spAutoFit/>
          </a:bodyPr>
          <a:lstStyle/>
          <a:p>
            <a:r>
              <a:rPr lang="el-GR" dirty="0" smtClean="0">
                <a:solidFill>
                  <a:srgbClr val="FFFFFF"/>
                </a:solidFill>
              </a:rPr>
              <a:t>Κεφαλονιά - Λευκάδα</a:t>
            </a:r>
            <a:endParaRPr lang="el-GR" dirty="0">
              <a:solidFill>
                <a:srgbClr val="FFFFFF"/>
              </a:solidFill>
            </a:endParaRPr>
          </a:p>
        </p:txBody>
      </p:sp>
      <p:sp>
        <p:nvSpPr>
          <p:cNvPr id="11" name="TextBox 10"/>
          <p:cNvSpPr txBox="1"/>
          <p:nvPr/>
        </p:nvSpPr>
        <p:spPr>
          <a:xfrm>
            <a:off x="6143636" y="4857760"/>
            <a:ext cx="2214578" cy="369332"/>
          </a:xfrm>
          <a:prstGeom prst="rect">
            <a:avLst/>
          </a:prstGeom>
          <a:noFill/>
        </p:spPr>
        <p:txBody>
          <a:bodyPr wrap="square" rtlCol="0">
            <a:spAutoFit/>
          </a:bodyPr>
          <a:lstStyle/>
          <a:p>
            <a:r>
              <a:rPr lang="el-GR" dirty="0" smtClean="0">
                <a:solidFill>
                  <a:srgbClr val="FFFFFF"/>
                </a:solidFill>
              </a:rPr>
              <a:t>Λευκάδα – Πάτρα</a:t>
            </a:r>
            <a:endParaRPr lang="el-GR" dirty="0">
              <a:solidFill>
                <a:srgbClr val="FFFFFF"/>
              </a:solidFill>
            </a:endParaRPr>
          </a:p>
        </p:txBody>
      </p:sp>
      <p:sp>
        <p:nvSpPr>
          <p:cNvPr id="12" name="Right Arrow 11"/>
          <p:cNvSpPr/>
          <p:nvPr/>
        </p:nvSpPr>
        <p:spPr>
          <a:xfrm>
            <a:off x="2786050" y="3500438"/>
            <a:ext cx="428628" cy="142876"/>
          </a:xfrm>
          <a:prstGeom prst="rightArrow">
            <a:avLst/>
          </a:prstGeom>
          <a:solidFill>
            <a:srgbClr val="FF0000"/>
          </a:solidFill>
          <a:ln w="31750">
            <a:solidFill>
              <a:srgbClr val="1919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3" name="TextBox 12"/>
          <p:cNvSpPr txBox="1"/>
          <p:nvPr/>
        </p:nvSpPr>
        <p:spPr>
          <a:xfrm>
            <a:off x="2143108" y="3181648"/>
            <a:ext cx="1071570" cy="307777"/>
          </a:xfrm>
          <a:prstGeom prst="rect">
            <a:avLst/>
          </a:prstGeom>
          <a:noFill/>
        </p:spPr>
        <p:txBody>
          <a:bodyPr wrap="square" rtlCol="0">
            <a:spAutoFit/>
          </a:bodyPr>
          <a:lstStyle/>
          <a:p>
            <a:r>
              <a:rPr lang="el-GR" sz="1400" dirty="0" smtClean="0">
                <a:solidFill>
                  <a:srgbClr val="191919"/>
                </a:solidFill>
              </a:rPr>
              <a:t>Κεφαλονιά</a:t>
            </a:r>
            <a:endParaRPr lang="el-GR" sz="1400" dirty="0">
              <a:solidFill>
                <a:srgbClr val="191919"/>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143000"/>
          </a:xfrm>
        </p:spPr>
        <p:txBody>
          <a:bodyPr/>
          <a:lstStyle/>
          <a:p>
            <a:pPr eaLnBrk="1" hangingPunct="1"/>
            <a:r>
              <a:rPr lang="el-GR" altLang="en-US" sz="2400" dirty="0" smtClean="0">
                <a:solidFill>
                  <a:srgbClr val="FFFF00"/>
                </a:solidFill>
              </a:rPr>
              <a:t>Γεωμαγνητική και ηλιακή δραστηριότητα - </a:t>
            </a:r>
            <a:r>
              <a:rPr lang="el-GR" altLang="en-US" sz="2400" dirty="0" smtClean="0">
                <a:solidFill>
                  <a:srgbClr val="FFFF00"/>
                </a:solidFill>
              </a:rPr>
              <a:t>3 ημέρες πριν από το σεισμό 6.1</a:t>
            </a:r>
            <a:r>
              <a:rPr lang="en-GB" altLang="en-US" sz="2400" dirty="0" smtClean="0">
                <a:solidFill>
                  <a:srgbClr val="FFFF00"/>
                </a:solidFill>
              </a:rPr>
              <a:t>R</a:t>
            </a:r>
            <a:r>
              <a:rPr lang="el-GR" altLang="en-US" sz="2400" dirty="0" smtClean="0">
                <a:solidFill>
                  <a:srgbClr val="FFFF00"/>
                </a:solidFill>
              </a:rPr>
              <a:t> στην Κεφαλονιά στις 26-01-2014</a:t>
            </a:r>
            <a:br>
              <a:rPr lang="el-GR" altLang="en-US" sz="2400" dirty="0" smtClean="0">
                <a:solidFill>
                  <a:srgbClr val="FFFF00"/>
                </a:solidFill>
              </a:rPr>
            </a:br>
            <a:r>
              <a:rPr lang="el-GR" altLang="en-US" sz="1600" dirty="0" smtClean="0">
                <a:solidFill>
                  <a:srgbClr val="FFFF00"/>
                </a:solidFill>
              </a:rPr>
              <a:t>(</a:t>
            </a:r>
            <a:r>
              <a:rPr lang="en-GB" altLang="en-US" sz="1600" dirty="0" err="1" smtClean="0">
                <a:solidFill>
                  <a:srgbClr val="FFFF00"/>
                </a:solidFill>
              </a:rPr>
              <a:t>Kp</a:t>
            </a:r>
            <a:r>
              <a:rPr lang="en-GB" altLang="en-US" sz="1600" dirty="0" smtClean="0">
                <a:solidFill>
                  <a:srgbClr val="FFFF00"/>
                </a:solidFill>
              </a:rPr>
              <a:t>&lt;4, </a:t>
            </a:r>
            <a:r>
              <a:rPr lang="en-GB" altLang="en-US" sz="1600" dirty="0" err="1" smtClean="0">
                <a:solidFill>
                  <a:srgbClr val="FFFF00"/>
                </a:solidFill>
              </a:rPr>
              <a:t>Dst</a:t>
            </a:r>
            <a:r>
              <a:rPr lang="en-GB" altLang="en-US" sz="1600" dirty="0" smtClean="0">
                <a:solidFill>
                  <a:srgbClr val="FFFF00"/>
                </a:solidFill>
              </a:rPr>
              <a:t>&gt;-20nT, </a:t>
            </a:r>
            <a:r>
              <a:rPr lang="en-GB" altLang="en-US" sz="1600" dirty="0" smtClean="0">
                <a:solidFill>
                  <a:srgbClr val="FFFF00"/>
                </a:solidFill>
              </a:rPr>
              <a:t>F</a:t>
            </a:r>
            <a:r>
              <a:rPr lang="en-GB" altLang="en-US" sz="1600" dirty="0" smtClean="0">
                <a:solidFill>
                  <a:srgbClr val="FFFF00"/>
                </a:solidFill>
              </a:rPr>
              <a:t>10.7cm radio flux &lt;140sfu</a:t>
            </a:r>
            <a:r>
              <a:rPr lang="el-GR" altLang="en-US" sz="1600" dirty="0" smtClean="0">
                <a:solidFill>
                  <a:srgbClr val="FFFF00"/>
                </a:solidFill>
              </a:rPr>
              <a:t>)</a:t>
            </a:r>
            <a:r>
              <a:rPr lang="en-GB" altLang="en-US" sz="1600" dirty="0" smtClean="0">
                <a:solidFill>
                  <a:srgbClr val="FFFF00"/>
                </a:solidFill>
              </a:rPr>
              <a:t/>
            </a:r>
            <a:br>
              <a:rPr lang="en-GB" altLang="en-US" sz="1600" dirty="0" smtClean="0">
                <a:solidFill>
                  <a:srgbClr val="FFFF00"/>
                </a:solidFill>
              </a:rPr>
            </a:br>
            <a:endParaRPr lang="en-US" altLang="en-US" sz="1600" dirty="0" smtClean="0">
              <a:solidFill>
                <a:srgbClr val="FFFF00"/>
              </a:solidFill>
            </a:endParaRPr>
          </a:p>
        </p:txBody>
      </p:sp>
      <p:pic>
        <p:nvPicPr>
          <p:cNvPr id="14" name="Picture 13" descr="dst.png"/>
          <p:cNvPicPr>
            <a:picLocks noChangeAspect="1"/>
          </p:cNvPicPr>
          <p:nvPr/>
        </p:nvPicPr>
        <p:blipFill>
          <a:blip r:embed="rId3"/>
          <a:stretch>
            <a:fillRect/>
          </a:stretch>
        </p:blipFill>
        <p:spPr>
          <a:xfrm>
            <a:off x="1071562" y="1323974"/>
            <a:ext cx="7000875" cy="2105025"/>
          </a:xfrm>
          <a:prstGeom prst="rect">
            <a:avLst/>
          </a:prstGeom>
        </p:spPr>
      </p:pic>
      <p:pic>
        <p:nvPicPr>
          <p:cNvPr id="15" name="Picture 14" descr="kp.png"/>
          <p:cNvPicPr>
            <a:picLocks noChangeAspect="1"/>
          </p:cNvPicPr>
          <p:nvPr/>
        </p:nvPicPr>
        <p:blipFill>
          <a:blip r:embed="rId4"/>
          <a:stretch>
            <a:fillRect/>
          </a:stretch>
        </p:blipFill>
        <p:spPr>
          <a:xfrm>
            <a:off x="0" y="4000504"/>
            <a:ext cx="4627245" cy="2540318"/>
          </a:xfrm>
          <a:prstGeom prst="rect">
            <a:avLst/>
          </a:prstGeom>
        </p:spPr>
      </p:pic>
      <p:pic>
        <p:nvPicPr>
          <p:cNvPr id="16" name="Picture 15" descr="f10.7.png"/>
          <p:cNvPicPr>
            <a:picLocks noChangeAspect="1"/>
          </p:cNvPicPr>
          <p:nvPr/>
        </p:nvPicPr>
        <p:blipFill>
          <a:blip r:embed="rId5"/>
          <a:stretch>
            <a:fillRect/>
          </a:stretch>
        </p:blipFill>
        <p:spPr>
          <a:xfrm>
            <a:off x="4683442" y="4429132"/>
            <a:ext cx="4460558" cy="1280160"/>
          </a:xfrm>
          <a:prstGeom prst="rect">
            <a:avLst/>
          </a:prstGeom>
        </p:spPr>
      </p:pic>
      <p:cxnSp>
        <p:nvCxnSpPr>
          <p:cNvPr id="22" name="Straight Arrow Connector 21"/>
          <p:cNvCxnSpPr/>
          <p:nvPr/>
        </p:nvCxnSpPr>
        <p:spPr>
          <a:xfrm rot="16200000" flipV="1">
            <a:off x="5357818" y="2643182"/>
            <a:ext cx="2000264" cy="71438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0800000" flipV="1">
            <a:off x="2285984" y="4000504"/>
            <a:ext cx="4429156" cy="150019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6036479" y="4250537"/>
            <a:ext cx="928694" cy="42862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715140" y="3815838"/>
            <a:ext cx="1971660" cy="369332"/>
          </a:xfrm>
          <a:prstGeom prst="rect">
            <a:avLst/>
          </a:prstGeom>
          <a:noFill/>
        </p:spPr>
        <p:txBody>
          <a:bodyPr wrap="square" rtlCol="0">
            <a:spAutoFit/>
          </a:bodyPr>
          <a:lstStyle/>
          <a:p>
            <a:r>
              <a:rPr lang="en-GB" dirty="0" smtClean="0">
                <a:solidFill>
                  <a:srgbClr val="FFC000"/>
                </a:solidFill>
              </a:rPr>
              <a:t>Quiet conditions</a:t>
            </a:r>
            <a:endParaRPr lang="el-GR" dirty="0">
              <a:solidFill>
                <a:srgbClr val="FFC0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143000"/>
          </a:xfrm>
        </p:spPr>
        <p:txBody>
          <a:bodyPr/>
          <a:lstStyle/>
          <a:p>
            <a:pPr eaLnBrk="1" hangingPunct="1"/>
            <a:r>
              <a:rPr lang="el-GR" altLang="en-US" sz="2400" dirty="0" smtClean="0">
                <a:solidFill>
                  <a:srgbClr val="FFFF00"/>
                </a:solidFill>
              </a:rPr>
              <a:t>Χωρική κατανομή </a:t>
            </a:r>
            <a:r>
              <a:rPr lang="en-GB" altLang="en-US" sz="2400" dirty="0" smtClean="0">
                <a:solidFill>
                  <a:srgbClr val="FFFF00"/>
                </a:solidFill>
              </a:rPr>
              <a:t>TEC </a:t>
            </a:r>
            <a:r>
              <a:rPr lang="el-GR" altLang="en-US" sz="2400" dirty="0" smtClean="0">
                <a:solidFill>
                  <a:srgbClr val="FFFF00"/>
                </a:solidFill>
              </a:rPr>
              <a:t>- 3 ημέρες πριν από το σεισμό </a:t>
            </a:r>
            <a:br>
              <a:rPr lang="el-GR" altLang="en-US" sz="2400" dirty="0" smtClean="0">
                <a:solidFill>
                  <a:srgbClr val="FFFF00"/>
                </a:solidFill>
              </a:rPr>
            </a:br>
            <a:r>
              <a:rPr lang="el-GR" altLang="en-US" sz="1600" dirty="0" smtClean="0">
                <a:solidFill>
                  <a:srgbClr val="FFFF00"/>
                </a:solidFill>
              </a:rPr>
              <a:t>(ασυνήθιστα υψηλές τιμές ΤΕ</a:t>
            </a:r>
            <a:r>
              <a:rPr lang="en-GB" altLang="en-US" sz="1600" dirty="0" smtClean="0">
                <a:solidFill>
                  <a:srgbClr val="FFFF00"/>
                </a:solidFill>
              </a:rPr>
              <a:t>C </a:t>
            </a:r>
            <a:r>
              <a:rPr lang="el-GR" altLang="en-US" sz="1600" dirty="0" smtClean="0">
                <a:solidFill>
                  <a:srgbClr val="FFFF00"/>
                </a:solidFill>
              </a:rPr>
              <a:t>στον σταθμό </a:t>
            </a:r>
            <a:r>
              <a:rPr lang="en-GB" altLang="en-US" sz="1600" dirty="0" err="1" smtClean="0">
                <a:solidFill>
                  <a:srgbClr val="FFFF00"/>
                </a:solidFill>
              </a:rPr>
              <a:t>vlsm</a:t>
            </a:r>
            <a:r>
              <a:rPr lang="en-US" altLang="en-US" sz="1600" dirty="0" smtClean="0">
                <a:solidFill>
                  <a:srgbClr val="FFFF00"/>
                </a:solidFill>
              </a:rPr>
              <a:t> </a:t>
            </a:r>
            <a:r>
              <a:rPr lang="el-GR" altLang="en-US" sz="1600" dirty="0" smtClean="0">
                <a:solidFill>
                  <a:srgbClr val="FFFF00"/>
                </a:solidFill>
              </a:rPr>
              <a:t>τις πρωινές ώρες)</a:t>
            </a:r>
            <a:r>
              <a:rPr lang="en-GB" altLang="en-US" sz="1600" dirty="0" smtClean="0">
                <a:solidFill>
                  <a:srgbClr val="FFFF00"/>
                </a:solidFill>
              </a:rPr>
              <a:t/>
            </a:r>
            <a:br>
              <a:rPr lang="en-GB" altLang="en-US" sz="1600" dirty="0" smtClean="0">
                <a:solidFill>
                  <a:srgbClr val="FFFF00"/>
                </a:solidFill>
              </a:rPr>
            </a:br>
            <a:endParaRPr lang="en-US" altLang="en-US" sz="1600" dirty="0" smtClean="0">
              <a:solidFill>
                <a:srgbClr val="FFFF00"/>
              </a:solidFill>
            </a:endParaRPr>
          </a:p>
        </p:txBody>
      </p:sp>
      <p:pic>
        <p:nvPicPr>
          <p:cNvPr id="4" name="Picture 3" descr="frame_15.png"/>
          <p:cNvPicPr>
            <a:picLocks noChangeAspect="1"/>
          </p:cNvPicPr>
          <p:nvPr/>
        </p:nvPicPr>
        <p:blipFill>
          <a:blip r:embed="rId3"/>
          <a:stretch>
            <a:fillRect/>
          </a:stretch>
        </p:blipFill>
        <p:spPr>
          <a:xfrm>
            <a:off x="911654" y="1372053"/>
            <a:ext cx="7320691" cy="5485947"/>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143000"/>
          </a:xfrm>
        </p:spPr>
        <p:txBody>
          <a:bodyPr/>
          <a:lstStyle/>
          <a:p>
            <a:pPr eaLnBrk="1" hangingPunct="1"/>
            <a:r>
              <a:rPr lang="el-GR" altLang="en-US" sz="2400" dirty="0" smtClean="0">
                <a:solidFill>
                  <a:srgbClr val="FFFF00"/>
                </a:solidFill>
              </a:rPr>
              <a:t>Σχετική θέση επικέντρου και σταθμού </a:t>
            </a:r>
            <a:r>
              <a:rPr lang="en-GB" altLang="en-US" sz="2400" dirty="0" smtClean="0">
                <a:solidFill>
                  <a:srgbClr val="FFFF00"/>
                </a:solidFill>
              </a:rPr>
              <a:t>GPS </a:t>
            </a:r>
            <a:br>
              <a:rPr lang="en-GB" altLang="en-US" sz="2400" dirty="0" smtClean="0">
                <a:solidFill>
                  <a:srgbClr val="FFFF00"/>
                </a:solidFill>
              </a:rPr>
            </a:br>
            <a:r>
              <a:rPr lang="en-GB" altLang="en-US" sz="1600" dirty="0" smtClean="0">
                <a:solidFill>
                  <a:srgbClr val="FFFF00"/>
                </a:solidFill>
              </a:rPr>
              <a:t>(</a:t>
            </a:r>
            <a:r>
              <a:rPr lang="el-GR" altLang="en-US" sz="1600" dirty="0" smtClean="0">
                <a:solidFill>
                  <a:srgbClr val="FFFF00"/>
                </a:solidFill>
              </a:rPr>
              <a:t>ο σταθμός </a:t>
            </a:r>
            <a:r>
              <a:rPr lang="en-GB" altLang="en-US" sz="1600" dirty="0" smtClean="0">
                <a:solidFill>
                  <a:srgbClr val="FFFF00"/>
                </a:solidFill>
              </a:rPr>
              <a:t>vlsm</a:t>
            </a:r>
            <a:r>
              <a:rPr lang="en-US" altLang="en-US" sz="1600" dirty="0" smtClean="0">
                <a:solidFill>
                  <a:srgbClr val="FFFF00"/>
                </a:solidFill>
              </a:rPr>
              <a:t> </a:t>
            </a:r>
            <a:r>
              <a:rPr lang="el-GR" altLang="en-US" sz="1600" dirty="0" smtClean="0">
                <a:solidFill>
                  <a:srgbClr val="FFFF00"/>
                </a:solidFill>
              </a:rPr>
              <a:t>ήταν σχεδόν πάνω στο επίκεντρο, με αποτέλεσμα οι υπερβάσεις </a:t>
            </a:r>
            <a:r>
              <a:rPr lang="en-GB" altLang="en-US" sz="1600" dirty="0" smtClean="0">
                <a:solidFill>
                  <a:srgbClr val="FFFF00"/>
                </a:solidFill>
              </a:rPr>
              <a:t>SKLD</a:t>
            </a:r>
            <a:r>
              <a:rPr lang="en-US" altLang="en-US" sz="1600" dirty="0" smtClean="0">
                <a:solidFill>
                  <a:srgbClr val="FFFF00"/>
                </a:solidFill>
              </a:rPr>
              <a:t> </a:t>
            </a:r>
            <a:r>
              <a:rPr lang="el-GR" altLang="en-US" sz="1600" dirty="0" smtClean="0">
                <a:solidFill>
                  <a:srgbClr val="FFFF00"/>
                </a:solidFill>
              </a:rPr>
              <a:t>στα ζεύγη </a:t>
            </a:r>
            <a:r>
              <a:rPr lang="en-GB" altLang="en-US" sz="1600" dirty="0" smtClean="0">
                <a:solidFill>
                  <a:srgbClr val="FFFF00"/>
                </a:solidFill>
              </a:rPr>
              <a:t>kef-</a:t>
            </a:r>
            <a:r>
              <a:rPr lang="en-GB" altLang="en-US" sz="1600" dirty="0" err="1" smtClean="0">
                <a:solidFill>
                  <a:srgbClr val="FFFF00"/>
                </a:solidFill>
              </a:rPr>
              <a:t>lef</a:t>
            </a:r>
            <a:r>
              <a:rPr lang="en-US" altLang="en-US" sz="1600" dirty="0" smtClean="0">
                <a:solidFill>
                  <a:srgbClr val="FFFF00"/>
                </a:solidFill>
              </a:rPr>
              <a:t> </a:t>
            </a:r>
            <a:r>
              <a:rPr lang="el-GR" altLang="en-US" sz="1600" dirty="0" smtClean="0">
                <a:solidFill>
                  <a:srgbClr val="FFFF00"/>
                </a:solidFill>
              </a:rPr>
              <a:t>και </a:t>
            </a:r>
            <a:r>
              <a:rPr lang="en-GB" altLang="en-US" sz="1600" dirty="0" smtClean="0">
                <a:solidFill>
                  <a:srgbClr val="FFFF00"/>
                </a:solidFill>
              </a:rPr>
              <a:t>kef-</a:t>
            </a:r>
            <a:r>
              <a:rPr lang="en-GB" altLang="en-US" sz="1600" dirty="0" err="1" smtClean="0">
                <a:solidFill>
                  <a:srgbClr val="FFFF00"/>
                </a:solidFill>
              </a:rPr>
              <a:t>patr</a:t>
            </a:r>
            <a:r>
              <a:rPr lang="en-GB" altLang="en-US" sz="1600" dirty="0" smtClean="0">
                <a:solidFill>
                  <a:srgbClr val="FFFF00"/>
                </a:solidFill>
              </a:rPr>
              <a:t> </a:t>
            </a:r>
            <a:r>
              <a:rPr lang="el-GR" altLang="en-US" sz="1600" dirty="0" smtClean="0">
                <a:solidFill>
                  <a:srgbClr val="FFFF00"/>
                </a:solidFill>
              </a:rPr>
              <a:t>να είναι πολύ μεγάλες) </a:t>
            </a:r>
            <a:br>
              <a:rPr lang="el-GR" altLang="en-US" sz="1600" dirty="0" smtClean="0">
                <a:solidFill>
                  <a:srgbClr val="FFFF00"/>
                </a:solidFill>
              </a:rPr>
            </a:br>
            <a:r>
              <a:rPr lang="en-GB" altLang="en-US" sz="1600" dirty="0" smtClean="0">
                <a:solidFill>
                  <a:srgbClr val="FFFF00"/>
                </a:solidFill>
              </a:rPr>
              <a:t/>
            </a:r>
            <a:br>
              <a:rPr lang="en-GB" altLang="en-US" sz="1600" dirty="0" smtClean="0">
                <a:solidFill>
                  <a:srgbClr val="FFFF00"/>
                </a:solidFill>
              </a:rPr>
            </a:br>
            <a:endParaRPr lang="en-US" altLang="en-US" sz="1600" dirty="0" smtClean="0">
              <a:solidFill>
                <a:srgbClr val="FFFF00"/>
              </a:solidFill>
            </a:endParaRPr>
          </a:p>
        </p:txBody>
      </p:sp>
      <p:pic>
        <p:nvPicPr>
          <p:cNvPr id="7" name="Picture 6" descr="s1.png"/>
          <p:cNvPicPr>
            <a:picLocks noChangeAspect="1"/>
          </p:cNvPicPr>
          <p:nvPr/>
        </p:nvPicPr>
        <p:blipFill>
          <a:blip r:embed="rId3"/>
          <a:stretch>
            <a:fillRect/>
          </a:stretch>
        </p:blipFill>
        <p:spPr>
          <a:xfrm>
            <a:off x="285720" y="1417638"/>
            <a:ext cx="4491990" cy="4097655"/>
          </a:xfrm>
          <a:prstGeom prst="rect">
            <a:avLst/>
          </a:prstGeom>
        </p:spPr>
      </p:pic>
      <p:pic>
        <p:nvPicPr>
          <p:cNvPr id="8" name="Picture 7" descr="s2.png"/>
          <p:cNvPicPr>
            <a:picLocks noChangeAspect="1"/>
          </p:cNvPicPr>
          <p:nvPr/>
        </p:nvPicPr>
        <p:blipFill>
          <a:blip r:embed="rId4"/>
          <a:stretch>
            <a:fillRect/>
          </a:stretch>
        </p:blipFill>
        <p:spPr>
          <a:xfrm>
            <a:off x="4994910" y="1928802"/>
            <a:ext cx="3934808" cy="307183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Screenshot_1.png"/>
          <p:cNvPicPr>
            <a:picLocks noChangeAspect="1"/>
          </p:cNvPicPr>
          <p:nvPr/>
        </p:nvPicPr>
        <p:blipFill>
          <a:blip r:embed="rId3"/>
          <a:stretch>
            <a:fillRect/>
          </a:stretch>
        </p:blipFill>
        <p:spPr>
          <a:xfrm>
            <a:off x="649916" y="0"/>
            <a:ext cx="7844167" cy="6858000"/>
          </a:xfrm>
          <a:prstGeom prst="rect">
            <a:avLst/>
          </a:prstGeom>
        </p:spPr>
      </p:pic>
      <p:sp>
        <p:nvSpPr>
          <p:cNvPr id="19" name="TextBox 18"/>
          <p:cNvSpPr txBox="1"/>
          <p:nvPr/>
        </p:nvSpPr>
        <p:spPr>
          <a:xfrm>
            <a:off x="1000100" y="5316036"/>
            <a:ext cx="1285884" cy="523220"/>
          </a:xfrm>
          <a:prstGeom prst="rect">
            <a:avLst/>
          </a:prstGeom>
          <a:noFill/>
        </p:spPr>
        <p:txBody>
          <a:bodyPr wrap="square" rtlCol="0">
            <a:spAutoFit/>
          </a:bodyPr>
          <a:lstStyle/>
          <a:p>
            <a:r>
              <a:rPr lang="en-US" sz="2800" b="1" dirty="0" smtClean="0">
                <a:solidFill>
                  <a:srgbClr val="FFC000"/>
                </a:solidFill>
              </a:rPr>
              <a:t>6.1R</a:t>
            </a:r>
            <a:endParaRPr lang="el-GR" sz="2800" b="1" dirty="0">
              <a:solidFill>
                <a:srgbClr val="FFC000"/>
              </a:solidFill>
            </a:endParaRPr>
          </a:p>
        </p:txBody>
      </p:sp>
      <p:cxnSp>
        <p:nvCxnSpPr>
          <p:cNvPr id="23" name="Straight Arrow Connector 22"/>
          <p:cNvCxnSpPr/>
          <p:nvPr/>
        </p:nvCxnSpPr>
        <p:spPr>
          <a:xfrm>
            <a:off x="2643174" y="5000636"/>
            <a:ext cx="5000660" cy="714380"/>
          </a:xfrm>
          <a:prstGeom prst="straightConnector1">
            <a:avLst/>
          </a:prstGeom>
          <a:ln w="317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flipH="1" flipV="1">
            <a:off x="606794" y="2464984"/>
            <a:ext cx="4215636" cy="428628"/>
          </a:xfrm>
          <a:prstGeom prst="straightConnector1">
            <a:avLst/>
          </a:prstGeom>
          <a:ln w="317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786050" y="2714620"/>
            <a:ext cx="1214445" cy="369332"/>
          </a:xfrm>
          <a:prstGeom prst="rect">
            <a:avLst/>
          </a:prstGeom>
          <a:noFill/>
        </p:spPr>
        <p:txBody>
          <a:bodyPr wrap="square" rtlCol="0">
            <a:spAutoFit/>
          </a:bodyPr>
          <a:lstStyle/>
          <a:p>
            <a:r>
              <a:rPr lang="en-US" dirty="0" smtClean="0">
                <a:solidFill>
                  <a:srgbClr val="FFFF00"/>
                </a:solidFill>
              </a:rPr>
              <a:t>d1=70km</a:t>
            </a:r>
            <a:endParaRPr lang="el-GR" dirty="0">
              <a:solidFill>
                <a:srgbClr val="FFFF00"/>
              </a:solidFill>
            </a:endParaRPr>
          </a:p>
        </p:txBody>
      </p:sp>
      <p:sp>
        <p:nvSpPr>
          <p:cNvPr id="30" name="TextBox 29"/>
          <p:cNvSpPr txBox="1"/>
          <p:nvPr/>
        </p:nvSpPr>
        <p:spPr>
          <a:xfrm>
            <a:off x="4714876" y="4946704"/>
            <a:ext cx="1214445" cy="369332"/>
          </a:xfrm>
          <a:prstGeom prst="rect">
            <a:avLst/>
          </a:prstGeom>
          <a:noFill/>
        </p:spPr>
        <p:txBody>
          <a:bodyPr wrap="square" rtlCol="0">
            <a:spAutoFit/>
          </a:bodyPr>
          <a:lstStyle/>
          <a:p>
            <a:r>
              <a:rPr lang="en-US" dirty="0" smtClean="0">
                <a:solidFill>
                  <a:srgbClr val="FFFF00"/>
                </a:solidFill>
              </a:rPr>
              <a:t>d2=80km</a:t>
            </a:r>
            <a:endParaRPr lang="el-GR" dirty="0">
              <a:solidFill>
                <a:srgbClr val="FFFF00"/>
              </a:solidFill>
            </a:endParaRPr>
          </a:p>
        </p:txBody>
      </p:sp>
      <p:sp>
        <p:nvSpPr>
          <p:cNvPr id="8" name="Oval 7"/>
          <p:cNvSpPr/>
          <p:nvPr/>
        </p:nvSpPr>
        <p:spPr>
          <a:xfrm>
            <a:off x="1214414" y="4822438"/>
            <a:ext cx="357190" cy="356396"/>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3" name="Oval 12"/>
          <p:cNvSpPr/>
          <p:nvPr/>
        </p:nvSpPr>
        <p:spPr>
          <a:xfrm>
            <a:off x="1000100" y="4643446"/>
            <a:ext cx="785818" cy="67259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143000"/>
          </a:xfrm>
        </p:spPr>
        <p:txBody>
          <a:bodyPr/>
          <a:lstStyle/>
          <a:p>
            <a:pPr eaLnBrk="1" hangingPunct="1"/>
            <a:r>
              <a:rPr lang="el-GR" altLang="en-US" sz="2400" dirty="0" smtClean="0">
                <a:solidFill>
                  <a:srgbClr val="FFFF00"/>
                </a:solidFill>
              </a:rPr>
              <a:t>Δείκτης </a:t>
            </a:r>
            <a:r>
              <a:rPr lang="en-GB" altLang="en-US" sz="2400" dirty="0" smtClean="0">
                <a:solidFill>
                  <a:srgbClr val="FFFF00"/>
                </a:solidFill>
              </a:rPr>
              <a:t>SKLD </a:t>
            </a:r>
            <a:r>
              <a:rPr lang="el-GR" altLang="en-US" sz="2400" dirty="0" smtClean="0">
                <a:solidFill>
                  <a:srgbClr val="FFFF00"/>
                </a:solidFill>
              </a:rPr>
              <a:t>πριν το σεισμό</a:t>
            </a:r>
            <a:br>
              <a:rPr lang="el-GR" altLang="en-US" sz="2400" dirty="0" smtClean="0">
                <a:solidFill>
                  <a:srgbClr val="FFFF00"/>
                </a:solidFill>
              </a:rPr>
            </a:br>
            <a:r>
              <a:rPr lang="el-GR" altLang="en-US" sz="1600" dirty="0" smtClean="0">
                <a:solidFill>
                  <a:srgbClr val="FFFF00"/>
                </a:solidFill>
              </a:rPr>
              <a:t>(οι μεγάλες αποκλίσεις στα ζεύγη </a:t>
            </a:r>
            <a:r>
              <a:rPr lang="en-GB" altLang="en-US" sz="1600" dirty="0" smtClean="0">
                <a:solidFill>
                  <a:srgbClr val="FFFF00"/>
                </a:solidFill>
              </a:rPr>
              <a:t>kef-</a:t>
            </a:r>
            <a:r>
              <a:rPr lang="en-GB" altLang="en-US" sz="1600" dirty="0" err="1" smtClean="0">
                <a:solidFill>
                  <a:srgbClr val="FFFF00"/>
                </a:solidFill>
              </a:rPr>
              <a:t>lef</a:t>
            </a:r>
            <a:r>
              <a:rPr lang="en-US" altLang="en-US" sz="1600" dirty="0" smtClean="0">
                <a:solidFill>
                  <a:srgbClr val="FFFF00"/>
                </a:solidFill>
              </a:rPr>
              <a:t> </a:t>
            </a:r>
            <a:r>
              <a:rPr lang="el-GR" altLang="en-US" sz="1600" dirty="0" smtClean="0">
                <a:solidFill>
                  <a:srgbClr val="FFFF00"/>
                </a:solidFill>
              </a:rPr>
              <a:t>και </a:t>
            </a:r>
            <a:r>
              <a:rPr lang="en-GB" altLang="en-US" sz="1600" dirty="0" smtClean="0">
                <a:solidFill>
                  <a:srgbClr val="FFFF00"/>
                </a:solidFill>
              </a:rPr>
              <a:t>kef-</a:t>
            </a:r>
            <a:r>
              <a:rPr lang="en-GB" altLang="en-US" sz="1600" dirty="0" err="1" smtClean="0">
                <a:solidFill>
                  <a:srgbClr val="FFFF00"/>
                </a:solidFill>
              </a:rPr>
              <a:t>patr</a:t>
            </a:r>
            <a:r>
              <a:rPr lang="en-US" altLang="en-US" sz="1600" dirty="0" smtClean="0">
                <a:solidFill>
                  <a:srgbClr val="FFFF00"/>
                </a:solidFill>
              </a:rPr>
              <a:t>, </a:t>
            </a:r>
            <a:r>
              <a:rPr lang="el-GR" altLang="en-US" sz="1600" dirty="0" smtClean="0">
                <a:solidFill>
                  <a:srgbClr val="FFFF00"/>
                </a:solidFill>
              </a:rPr>
              <a:t>υποδεικνύουν οτι ο σταθμός στην Κεφαλονιά έχει ανώμαλες καταγραφές </a:t>
            </a:r>
            <a:r>
              <a:rPr lang="en-GB" altLang="en-US" sz="1600" dirty="0" smtClean="0">
                <a:solidFill>
                  <a:srgbClr val="FFFF00"/>
                </a:solidFill>
              </a:rPr>
              <a:t>TEC</a:t>
            </a:r>
            <a:r>
              <a:rPr lang="el-GR" altLang="en-US" sz="1600" dirty="0" smtClean="0">
                <a:solidFill>
                  <a:srgbClr val="FFFF00"/>
                </a:solidFill>
              </a:rPr>
              <a:t>)</a:t>
            </a:r>
            <a:r>
              <a:rPr lang="en-GB" altLang="en-US" sz="1600" dirty="0" smtClean="0">
                <a:solidFill>
                  <a:srgbClr val="FFFF00"/>
                </a:solidFill>
              </a:rPr>
              <a:t/>
            </a:r>
            <a:br>
              <a:rPr lang="en-GB" altLang="en-US" sz="1600" dirty="0" smtClean="0">
                <a:solidFill>
                  <a:srgbClr val="FFFF00"/>
                </a:solidFill>
              </a:rPr>
            </a:br>
            <a:endParaRPr lang="en-US" altLang="en-US" sz="1600" dirty="0" smtClean="0">
              <a:solidFill>
                <a:srgbClr val="FFFF00"/>
              </a:solidFill>
            </a:endParaRPr>
          </a:p>
        </p:txBody>
      </p:sp>
      <p:pic>
        <p:nvPicPr>
          <p:cNvPr id="4" name="Picture 3" descr="sos.png"/>
          <p:cNvPicPr>
            <a:picLocks noChangeAspect="1"/>
          </p:cNvPicPr>
          <p:nvPr/>
        </p:nvPicPr>
        <p:blipFill>
          <a:blip r:embed="rId3"/>
          <a:stretch>
            <a:fillRect/>
          </a:stretch>
        </p:blipFill>
        <p:spPr>
          <a:xfrm>
            <a:off x="457200" y="1214422"/>
            <a:ext cx="8096250" cy="4829175"/>
          </a:xfrm>
          <a:prstGeom prst="rect">
            <a:avLst/>
          </a:prstGeom>
        </p:spPr>
      </p:pic>
      <p:sp>
        <p:nvSpPr>
          <p:cNvPr id="8" name="Oval 7"/>
          <p:cNvSpPr/>
          <p:nvPr/>
        </p:nvSpPr>
        <p:spPr>
          <a:xfrm>
            <a:off x="2000232" y="4857760"/>
            <a:ext cx="2143140" cy="118583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p:nvCxnSpPr>
        <p:spPr>
          <a:xfrm rot="10800000" flipV="1">
            <a:off x="4143372" y="4429132"/>
            <a:ext cx="2357454" cy="78581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500826" y="3929066"/>
            <a:ext cx="1785950" cy="646331"/>
          </a:xfrm>
          <a:prstGeom prst="rect">
            <a:avLst/>
          </a:prstGeom>
          <a:solidFill>
            <a:schemeClr val="bg1"/>
          </a:solidFill>
          <a:ln>
            <a:solidFill>
              <a:srgbClr val="FF0000"/>
            </a:solidFill>
          </a:ln>
        </p:spPr>
        <p:txBody>
          <a:bodyPr wrap="square" rtlCol="0">
            <a:spAutoFit/>
          </a:bodyPr>
          <a:lstStyle/>
          <a:p>
            <a:pPr algn="ctr"/>
            <a:r>
              <a:rPr lang="el-GR" dirty="0" smtClean="0">
                <a:solidFill>
                  <a:srgbClr val="FF0000"/>
                </a:solidFill>
              </a:rPr>
              <a:t>Αυξημένες τιμές </a:t>
            </a:r>
            <a:r>
              <a:rPr lang="en-US" dirty="0" smtClean="0">
                <a:solidFill>
                  <a:srgbClr val="FF0000"/>
                </a:solidFill>
              </a:rPr>
              <a:t>SKLD</a:t>
            </a:r>
            <a:endParaRPr lang="en-US" dirty="0">
              <a:solidFill>
                <a:srgbClr val="FF0000"/>
              </a:solidFill>
            </a:endParaRPr>
          </a:p>
        </p:txBody>
      </p:sp>
      <p:sp>
        <p:nvSpPr>
          <p:cNvPr id="18" name="Oval 17"/>
          <p:cNvSpPr/>
          <p:nvPr/>
        </p:nvSpPr>
        <p:spPr>
          <a:xfrm>
            <a:off x="2000232" y="1714488"/>
            <a:ext cx="1928826" cy="286090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stCxn id="17" idx="1"/>
          </p:cNvCxnSpPr>
          <p:nvPr/>
        </p:nvCxnSpPr>
        <p:spPr>
          <a:xfrm rot="10800000">
            <a:off x="3929058" y="2786068"/>
            <a:ext cx="2571768" cy="1466164"/>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1143000"/>
          </a:xfrm>
        </p:spPr>
        <p:txBody>
          <a:bodyPr/>
          <a:lstStyle/>
          <a:p>
            <a:pPr eaLnBrk="1" hangingPunct="1"/>
            <a:r>
              <a:rPr lang="el-GR" altLang="en-US" sz="2400" dirty="0" smtClean="0">
                <a:solidFill>
                  <a:srgbClr val="FFFF00"/>
                </a:solidFill>
              </a:rPr>
              <a:t>Δείκτης </a:t>
            </a:r>
            <a:r>
              <a:rPr lang="en-GB" altLang="en-US" sz="2400" dirty="0" smtClean="0">
                <a:solidFill>
                  <a:srgbClr val="FFFF00"/>
                </a:solidFill>
              </a:rPr>
              <a:t>SKLD </a:t>
            </a:r>
            <a:r>
              <a:rPr lang="el-GR" altLang="en-US" sz="2400" dirty="0" smtClean="0">
                <a:solidFill>
                  <a:srgbClr val="FFFF00"/>
                </a:solidFill>
              </a:rPr>
              <a:t> - 6 μήνες μετά το σεισμό</a:t>
            </a:r>
            <a:br>
              <a:rPr lang="el-GR" altLang="en-US" sz="2400" dirty="0" smtClean="0">
                <a:solidFill>
                  <a:srgbClr val="FFFF00"/>
                </a:solidFill>
              </a:rPr>
            </a:br>
            <a:r>
              <a:rPr lang="el-GR" altLang="en-US" sz="1600" dirty="0" smtClean="0">
                <a:solidFill>
                  <a:srgbClr val="FFFF00"/>
                </a:solidFill>
              </a:rPr>
              <a:t>(οι τιμές υποχώρησαν σε φυσιολογικά επίπεδα </a:t>
            </a:r>
            <a:r>
              <a:rPr lang="el-GR" altLang="en-US" sz="1600" dirty="0" smtClean="0">
                <a:solidFill>
                  <a:srgbClr val="FFFF00"/>
                </a:solidFill>
                <a:sym typeface="Wingdings" pitchFamily="2" charset="2"/>
              </a:rPr>
              <a:t></a:t>
            </a:r>
            <a:r>
              <a:rPr lang="el-GR" altLang="en-US" sz="1600" dirty="0" smtClean="0">
                <a:solidFill>
                  <a:srgbClr val="FFFF00"/>
                </a:solidFill>
              </a:rPr>
              <a:t> εκτονώθηκε η διαταραχή στην ιονόσφαιρα)</a:t>
            </a:r>
            <a:endParaRPr lang="en-US" altLang="en-US" sz="1600" dirty="0" smtClean="0">
              <a:solidFill>
                <a:srgbClr val="FFFF00"/>
              </a:solidFill>
            </a:endParaRPr>
          </a:p>
        </p:txBody>
      </p:sp>
      <p:pic>
        <p:nvPicPr>
          <p:cNvPr id="6" name="Picture 5" descr="sos2.png"/>
          <p:cNvPicPr>
            <a:picLocks noChangeAspect="1"/>
          </p:cNvPicPr>
          <p:nvPr/>
        </p:nvPicPr>
        <p:blipFill>
          <a:blip r:embed="rId3"/>
          <a:stretch>
            <a:fillRect/>
          </a:stretch>
        </p:blipFill>
        <p:spPr>
          <a:xfrm>
            <a:off x="295942" y="1417638"/>
            <a:ext cx="8390858" cy="544036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l-GR" altLang="en-US" sz="2000" dirty="0" smtClean="0">
                <a:solidFill>
                  <a:srgbClr val="FFFF00"/>
                </a:solidFill>
              </a:rPr>
              <a:t>Συμπεράσματα</a:t>
            </a:r>
            <a:endParaRPr lang="en-US" altLang="en-US" sz="2000" dirty="0" smtClean="0">
              <a:solidFill>
                <a:srgbClr val="FFFF00"/>
              </a:solidFill>
            </a:endParaRPr>
          </a:p>
        </p:txBody>
      </p:sp>
      <p:sp>
        <p:nvSpPr>
          <p:cNvPr id="11267" name="Rectangle 3"/>
          <p:cNvSpPr>
            <a:spLocks noGrp="1" noChangeArrowheads="1"/>
          </p:cNvSpPr>
          <p:nvPr>
            <p:ph type="body" sz="half" idx="1"/>
          </p:nvPr>
        </p:nvSpPr>
        <p:spPr>
          <a:xfrm>
            <a:off x="457200" y="1142984"/>
            <a:ext cx="8329642" cy="3700463"/>
          </a:xfrm>
        </p:spPr>
        <p:txBody>
          <a:bodyPr/>
          <a:lstStyle/>
          <a:p>
            <a:pPr algn="just" eaLnBrk="1" hangingPunct="1">
              <a:buFont typeface="+mj-lt"/>
              <a:buAutoNum type="arabicPeriod"/>
            </a:pPr>
            <a:r>
              <a:rPr lang="el-GR" altLang="en-US" sz="1600" dirty="0" smtClean="0">
                <a:solidFill>
                  <a:srgbClr val="66FFFF"/>
                </a:solidFill>
              </a:rPr>
              <a:t>Η αύξηση του </a:t>
            </a:r>
            <a:r>
              <a:rPr lang="en-GB" altLang="en-US" sz="1600" dirty="0" smtClean="0">
                <a:solidFill>
                  <a:srgbClr val="66FFFF"/>
                </a:solidFill>
              </a:rPr>
              <a:t>SKLD</a:t>
            </a:r>
            <a:r>
              <a:rPr lang="en-US" altLang="en-US" sz="1600" dirty="0" smtClean="0">
                <a:solidFill>
                  <a:srgbClr val="66FFFF"/>
                </a:solidFill>
              </a:rPr>
              <a:t> </a:t>
            </a:r>
            <a:r>
              <a:rPr lang="el-GR" altLang="en-US" sz="1600" dirty="0" smtClean="0">
                <a:solidFill>
                  <a:srgbClr val="66FFFF"/>
                </a:solidFill>
              </a:rPr>
              <a:t>σε ένα ζεύγος παριστάνει την ανισοτροπία στη διάδοση του σεισμικού παλμού (</a:t>
            </a:r>
            <a:r>
              <a:rPr lang="en-GB" altLang="en-US" sz="1600" dirty="0" smtClean="0">
                <a:solidFill>
                  <a:srgbClr val="66FFFF"/>
                </a:solidFill>
              </a:rPr>
              <a:t>EQ pulse) </a:t>
            </a:r>
            <a:r>
              <a:rPr lang="el-GR" altLang="en-US" sz="1600" dirty="0" smtClean="0">
                <a:solidFill>
                  <a:srgbClr val="66FFFF"/>
                </a:solidFill>
              </a:rPr>
              <a:t>που «εκπέμπεται» από το επίκεντρο. Ο εντοπισμός τέτοιων μικρής έκτασης ανισοτροπιών στην ιονόσφαιρα, συνιστά πιθανό προσεισμικό σήμα. Επειδή όσο πιο ισχυρός είναι ο σεισμός τόσο πιο μεγάλη είναι η ανισοτροπία, η εν λόγω μέθοδος έχει μεγάλα ποσοστά επιτυχίας σε σεισμούς &gt;5,5</a:t>
            </a:r>
            <a:r>
              <a:rPr lang="en-GB" altLang="en-US" sz="1600" dirty="0" smtClean="0">
                <a:solidFill>
                  <a:srgbClr val="66FFFF"/>
                </a:solidFill>
              </a:rPr>
              <a:t>R.</a:t>
            </a:r>
            <a:endParaRPr lang="el-GR" altLang="en-US" sz="1600" dirty="0" smtClean="0">
              <a:solidFill>
                <a:srgbClr val="66FFFF"/>
              </a:solidFill>
            </a:endParaRPr>
          </a:p>
          <a:p>
            <a:pPr algn="just" eaLnBrk="1" hangingPunct="1">
              <a:buFont typeface="+mj-lt"/>
              <a:buAutoNum type="arabicPeriod"/>
            </a:pPr>
            <a:endParaRPr lang="el-GR" altLang="en-US" sz="1600" dirty="0" smtClean="0">
              <a:solidFill>
                <a:srgbClr val="66FFFF"/>
              </a:solidFill>
            </a:endParaRPr>
          </a:p>
          <a:p>
            <a:pPr algn="just" eaLnBrk="1" hangingPunct="1">
              <a:buFont typeface="+mj-lt"/>
              <a:buAutoNum type="arabicPeriod"/>
            </a:pPr>
            <a:r>
              <a:rPr lang="en-US" altLang="en-US" sz="1600" dirty="0" smtClean="0">
                <a:solidFill>
                  <a:srgbClr val="66FFFF"/>
                </a:solidFill>
              </a:rPr>
              <a:t>A</a:t>
            </a:r>
            <a:r>
              <a:rPr lang="el-GR" altLang="en-US" sz="1600" dirty="0" smtClean="0">
                <a:solidFill>
                  <a:srgbClr val="66FFFF"/>
                </a:solidFill>
              </a:rPr>
              <a:t>ν το επίκεντρο βρίσκεται επί της μεσοκαθέτου των 2 σταθμών, είναι πολύ πιθανό να επηρεαστούν εξίσου και οι 2 σταθμοί από την </a:t>
            </a:r>
            <a:r>
              <a:rPr lang="en-GB" altLang="en-US" sz="1600" dirty="0" smtClean="0">
                <a:solidFill>
                  <a:srgbClr val="66FFFF"/>
                </a:solidFill>
              </a:rPr>
              <a:t>TEC</a:t>
            </a:r>
            <a:r>
              <a:rPr lang="en-US" altLang="en-US" sz="1600" dirty="0" smtClean="0">
                <a:solidFill>
                  <a:srgbClr val="66FFFF"/>
                </a:solidFill>
              </a:rPr>
              <a:t> </a:t>
            </a:r>
            <a:r>
              <a:rPr lang="el-GR" altLang="en-US" sz="1600" dirty="0" smtClean="0">
                <a:solidFill>
                  <a:srgbClr val="66FFFF"/>
                </a:solidFill>
              </a:rPr>
              <a:t>μεταβολή λόγω του σφαιρικού σχήματος της ζώνης προετοιμασίας, με αποτέλεσμα να μην αυξηθεί ο δείκτης </a:t>
            </a:r>
            <a:r>
              <a:rPr lang="en-GB" altLang="en-US" sz="1600" dirty="0" smtClean="0">
                <a:solidFill>
                  <a:srgbClr val="66FFFF"/>
                </a:solidFill>
              </a:rPr>
              <a:t>SKLD</a:t>
            </a:r>
            <a:r>
              <a:rPr lang="el-GR" altLang="en-US" sz="1600" dirty="0" smtClean="0">
                <a:solidFill>
                  <a:srgbClr val="66FFFF"/>
                </a:solidFill>
              </a:rPr>
              <a:t> ή να μεταβληθεί ελάχιστα (π.χ. στο σεισμό της Αμφίκλειας 5,2</a:t>
            </a:r>
            <a:r>
              <a:rPr lang="en-GB" altLang="en-US" sz="1600" dirty="0" smtClean="0">
                <a:solidFill>
                  <a:srgbClr val="66FFFF"/>
                </a:solidFill>
              </a:rPr>
              <a:t>R</a:t>
            </a:r>
            <a:r>
              <a:rPr lang="el-GR" altLang="en-US" sz="1600" dirty="0" smtClean="0">
                <a:solidFill>
                  <a:srgbClr val="66FFFF"/>
                </a:solidFill>
              </a:rPr>
              <a:t> στις 7-08-2013, οι</a:t>
            </a:r>
            <a:r>
              <a:rPr lang="en-US" altLang="en-US" sz="1600" dirty="0" smtClean="0">
                <a:solidFill>
                  <a:srgbClr val="66FFFF"/>
                </a:solidFill>
              </a:rPr>
              <a:t> </a:t>
            </a:r>
            <a:r>
              <a:rPr lang="el-GR" altLang="en-US" sz="1600" dirty="0" smtClean="0">
                <a:solidFill>
                  <a:srgbClr val="66FFFF"/>
                </a:solidFill>
              </a:rPr>
              <a:t>δείκτες </a:t>
            </a:r>
            <a:r>
              <a:rPr lang="en-GB" altLang="en-US" sz="1600" dirty="0" smtClean="0">
                <a:solidFill>
                  <a:srgbClr val="66FFFF"/>
                </a:solidFill>
              </a:rPr>
              <a:t>SKLD</a:t>
            </a:r>
            <a:r>
              <a:rPr lang="en-US" altLang="en-US" sz="1600" dirty="0" smtClean="0">
                <a:solidFill>
                  <a:srgbClr val="66FFFF"/>
                </a:solidFill>
              </a:rPr>
              <a:t> </a:t>
            </a:r>
            <a:r>
              <a:rPr lang="el-GR" altLang="en-US" sz="1600" dirty="0" smtClean="0">
                <a:solidFill>
                  <a:srgbClr val="66FFFF"/>
                </a:solidFill>
              </a:rPr>
              <a:t>μεταξύ Αθήνας-Λάρισας και Λάρισας-Πάτρας δεν αυξήθηκαν, επειδή το επίκεντρο έτυχε να βρίσκεται σχεδόν πάνω στη μεσοκάθετο και στα 2 ζεύγη).</a:t>
            </a:r>
          </a:p>
          <a:p>
            <a:pPr algn="just" eaLnBrk="1" hangingPunct="1">
              <a:buFont typeface="+mj-lt"/>
              <a:buAutoNum type="arabicPeriod"/>
            </a:pPr>
            <a:endParaRPr lang="en-US" altLang="en-US" sz="1600" dirty="0" smtClean="0">
              <a:solidFill>
                <a:srgbClr val="66FFFF"/>
              </a:solidFill>
            </a:endParaRPr>
          </a:p>
          <a:p>
            <a:pPr algn="just" eaLnBrk="1" hangingPunct="1">
              <a:buFont typeface="+mj-lt"/>
              <a:buAutoNum type="arabicPeriod"/>
            </a:pPr>
            <a:r>
              <a:rPr lang="el-GR" altLang="en-US" sz="1600" dirty="0" smtClean="0">
                <a:solidFill>
                  <a:srgbClr val="66FFFF"/>
                </a:solidFill>
              </a:rPr>
              <a:t>Όταν σε ένα σεισμό 4,7-5</a:t>
            </a:r>
            <a:r>
              <a:rPr lang="en-GB" altLang="en-US" sz="1600" dirty="0" smtClean="0">
                <a:solidFill>
                  <a:srgbClr val="66FFFF"/>
                </a:solidFill>
              </a:rPr>
              <a:t>R</a:t>
            </a:r>
            <a:r>
              <a:rPr lang="en-US" altLang="en-US" sz="1600" dirty="0" smtClean="0">
                <a:solidFill>
                  <a:srgbClr val="66FFFF"/>
                </a:solidFill>
              </a:rPr>
              <a:t> </a:t>
            </a:r>
            <a:r>
              <a:rPr lang="el-GR" altLang="en-US" sz="1600" dirty="0" smtClean="0">
                <a:solidFill>
                  <a:srgbClr val="66FFFF"/>
                </a:solidFill>
              </a:rPr>
              <a:t>δεν παρατηρείται μετασεισμική ακολουθία, κατά κανόνα δεν προηγείται αύξηση </a:t>
            </a:r>
            <a:r>
              <a:rPr lang="en-GB" altLang="en-US" sz="1600" dirty="0" smtClean="0">
                <a:solidFill>
                  <a:srgbClr val="66FFFF"/>
                </a:solidFill>
              </a:rPr>
              <a:t>SKLD</a:t>
            </a:r>
            <a:r>
              <a:rPr lang="en-US" altLang="en-US" sz="1600" dirty="0" smtClean="0">
                <a:solidFill>
                  <a:srgbClr val="66FFFF"/>
                </a:solidFill>
              </a:rPr>
              <a:t> </a:t>
            </a:r>
            <a:r>
              <a:rPr lang="el-GR" altLang="en-US" sz="1600" dirty="0" smtClean="0">
                <a:solidFill>
                  <a:srgbClr val="66FFFF"/>
                </a:solidFill>
              </a:rPr>
              <a:t>σε κανένα ζεύγος στην αντίστοιχη ζώνη. Αυτό συμβαίνει επειδή όλη η ενέργεια εκτονώνεται κατά την εκδήλωση του σεισμού και δεν προηγείται εκπομπή ηλεκτρονίων. Το ίδιο </a:t>
            </a:r>
            <a:r>
              <a:rPr lang="el-GR" altLang="en-US" sz="1600" dirty="0" smtClean="0">
                <a:solidFill>
                  <a:srgbClr val="66FFFF"/>
                </a:solidFill>
              </a:rPr>
              <a:t>φαινόμενο </a:t>
            </a:r>
            <a:r>
              <a:rPr lang="el-GR" altLang="en-US" sz="1600" dirty="0" smtClean="0">
                <a:solidFill>
                  <a:srgbClr val="66FFFF"/>
                </a:solidFill>
              </a:rPr>
              <a:t>παρατηρείται </a:t>
            </a:r>
            <a:r>
              <a:rPr lang="el-GR" altLang="en-US" sz="1600" dirty="0" smtClean="0">
                <a:solidFill>
                  <a:srgbClr val="66FFFF"/>
                </a:solidFill>
              </a:rPr>
              <a:t>και σε καθυστερημένους μετασεισμούς 4.7-5</a:t>
            </a:r>
            <a:r>
              <a:rPr lang="en-GB" altLang="en-US" sz="1600" dirty="0" smtClean="0">
                <a:solidFill>
                  <a:srgbClr val="66FFFF"/>
                </a:solidFill>
              </a:rPr>
              <a:t>R. </a:t>
            </a:r>
            <a:r>
              <a:rPr lang="el-GR" altLang="en-US" sz="1600" dirty="0" smtClean="0">
                <a:solidFill>
                  <a:srgbClr val="66FFFF"/>
                </a:solidFill>
              </a:rPr>
              <a:t>Πάντως, ακόμη και </a:t>
            </a:r>
            <a:r>
              <a:rPr lang="el-GR" altLang="en-US" sz="1600" dirty="0" smtClean="0">
                <a:solidFill>
                  <a:srgbClr val="66FFFF"/>
                </a:solidFill>
              </a:rPr>
              <a:t>σεισμοί της τάξεως των 6</a:t>
            </a:r>
            <a:r>
              <a:rPr lang="en-GB" altLang="en-US" sz="1600" dirty="0" smtClean="0">
                <a:solidFill>
                  <a:srgbClr val="66FFFF"/>
                </a:solidFill>
              </a:rPr>
              <a:t>R </a:t>
            </a:r>
            <a:r>
              <a:rPr lang="el-GR" altLang="en-US" sz="1600" dirty="0" smtClean="0">
                <a:solidFill>
                  <a:srgbClr val="66FFFF"/>
                </a:solidFill>
              </a:rPr>
              <a:t>ενδέχεται να δώσουν σήμα μόλις 1-2 ημέρες νωρίτερα σε ένα ζεύγος </a:t>
            </a:r>
            <a:r>
              <a:rPr lang="el-GR" altLang="en-US" sz="1600" dirty="0" smtClean="0">
                <a:solidFill>
                  <a:srgbClr val="66FFFF"/>
                </a:solidFill>
                <a:sym typeface="Wingdings" pitchFamily="2" charset="2"/>
              </a:rPr>
              <a:t> </a:t>
            </a:r>
            <a:r>
              <a:rPr lang="el-GR" altLang="en-US" sz="1600" dirty="0" smtClean="0">
                <a:solidFill>
                  <a:srgbClr val="66FFFF"/>
                </a:solidFill>
              </a:rPr>
              <a:t>αυτό σημαίνει οτι δεν θα υπάρξει πλούσια μετασεισμική ακολουθία ή οτι η κατευθυντικότητα (διάδοση της </a:t>
            </a:r>
            <a:r>
              <a:rPr lang="el-GR" altLang="en-US" sz="1600" dirty="0" smtClean="0">
                <a:solidFill>
                  <a:srgbClr val="66FFFF"/>
                </a:solidFill>
              </a:rPr>
              <a:t>ιονοσφαιρικής </a:t>
            </a:r>
            <a:r>
              <a:rPr lang="el-GR" altLang="en-US" sz="1600" dirty="0" smtClean="0">
                <a:solidFill>
                  <a:srgbClr val="66FFFF"/>
                </a:solidFill>
              </a:rPr>
              <a:t>ανωμαλίας) είναι μακριά από το συγκεκριμένο ζεύγος.</a:t>
            </a:r>
          </a:p>
          <a:p>
            <a:pPr algn="just" eaLnBrk="1" hangingPunct="1">
              <a:buNone/>
            </a:pPr>
            <a:endParaRPr lang="el-GR" altLang="en-US" sz="1600" dirty="0" smtClean="0">
              <a:solidFill>
                <a:srgbClr val="66FFFF"/>
              </a:solidFill>
            </a:endParaRPr>
          </a:p>
          <a:p>
            <a:pPr algn="just" eaLnBrk="1" hangingPunct="1">
              <a:buFont typeface="+mj-lt"/>
              <a:buAutoNum type="arabicPeriod"/>
            </a:pPr>
            <a:endParaRPr lang="el-GR" altLang="en-US" sz="1600" dirty="0" smtClean="0">
              <a:solidFill>
                <a:srgbClr val="66FFFF"/>
              </a:solidFill>
            </a:endParaRPr>
          </a:p>
          <a:p>
            <a:pPr algn="just" eaLnBrk="1" hangingPunct="1">
              <a:buFont typeface="+mj-lt"/>
              <a:buAutoNum type="arabicPeriod"/>
            </a:pPr>
            <a:endParaRPr lang="en-GB" altLang="en-US" sz="1600" dirty="0" smtClean="0">
              <a:solidFill>
                <a:srgbClr val="66FFFF"/>
              </a:solidFill>
            </a:endParaRPr>
          </a:p>
          <a:p>
            <a:pPr algn="just" eaLnBrk="1" hangingPunct="1">
              <a:buFont typeface="+mj-lt"/>
              <a:buAutoNum type="arabicPeriod"/>
            </a:pPr>
            <a:endParaRPr lang="en-GB" altLang="en-US" sz="1600" dirty="0" smtClean="0">
              <a:solidFill>
                <a:srgbClr val="66FFFF"/>
              </a:solidFill>
            </a:endParaRPr>
          </a:p>
          <a:p>
            <a:pPr algn="just" eaLnBrk="1" hangingPunct="1">
              <a:buFont typeface="+mj-lt"/>
              <a:buAutoNum type="arabicPeriod"/>
            </a:pPr>
            <a:endParaRPr lang="el-GR" altLang="en-US" sz="1600" dirty="0" smtClean="0">
              <a:solidFill>
                <a:srgbClr val="66FFFF"/>
              </a:solidFill>
            </a:endParaRPr>
          </a:p>
          <a:p>
            <a:pPr algn="just" eaLnBrk="1" hangingPunct="1">
              <a:buNone/>
            </a:pPr>
            <a:endParaRPr lang="en-GB" altLang="en-US" sz="1600" dirty="0" smtClean="0">
              <a:solidFill>
                <a:srgbClr val="66FFFF"/>
              </a:solidFill>
            </a:endParaRPr>
          </a:p>
          <a:p>
            <a:pPr algn="just" eaLnBrk="1" hangingPunct="1">
              <a:buFont typeface="+mj-lt"/>
              <a:buAutoNum type="arabicPeriod"/>
            </a:pPr>
            <a:endParaRPr lang="en-GB" altLang="en-US" sz="1600" dirty="0" smtClean="0">
              <a:solidFill>
                <a:srgbClr val="66FFFF"/>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l-GR" altLang="en-US" sz="2000" dirty="0" smtClean="0">
                <a:solidFill>
                  <a:srgbClr val="FFFF00"/>
                </a:solidFill>
              </a:rPr>
              <a:t>Συμπεράσματα </a:t>
            </a:r>
            <a:r>
              <a:rPr lang="el-GR" altLang="en-US" sz="1600" dirty="0" smtClean="0">
                <a:solidFill>
                  <a:srgbClr val="FFFF00"/>
                </a:solidFill>
              </a:rPr>
              <a:t>(συνέχεια)</a:t>
            </a:r>
            <a:endParaRPr lang="en-US" altLang="en-US" sz="1600" dirty="0" smtClean="0">
              <a:solidFill>
                <a:srgbClr val="FFFF00"/>
              </a:solidFill>
            </a:endParaRPr>
          </a:p>
        </p:txBody>
      </p:sp>
      <p:sp>
        <p:nvSpPr>
          <p:cNvPr id="11267" name="Rectangle 3"/>
          <p:cNvSpPr>
            <a:spLocks noGrp="1" noChangeArrowheads="1"/>
          </p:cNvSpPr>
          <p:nvPr>
            <p:ph type="body" sz="half" idx="1"/>
          </p:nvPr>
        </p:nvSpPr>
        <p:spPr>
          <a:xfrm>
            <a:off x="457200" y="1000108"/>
            <a:ext cx="8329642" cy="3700463"/>
          </a:xfrm>
        </p:spPr>
        <p:txBody>
          <a:bodyPr/>
          <a:lstStyle/>
          <a:p>
            <a:pPr algn="just" eaLnBrk="1" hangingPunct="1">
              <a:buFont typeface="+mj-lt"/>
              <a:buAutoNum type="arabicPeriod" startAt="4"/>
            </a:pPr>
            <a:r>
              <a:rPr lang="el-GR" altLang="en-US" sz="1600" dirty="0" smtClean="0">
                <a:solidFill>
                  <a:srgbClr val="66FFFF"/>
                </a:solidFill>
              </a:rPr>
              <a:t>Η μεγάλη διάρκεια ενός προσεισμικού σήματος (όταν δηλαδή παρατηρείται αύξηση </a:t>
            </a:r>
            <a:r>
              <a:rPr lang="en-GB" altLang="en-US" sz="1600" dirty="0" smtClean="0">
                <a:solidFill>
                  <a:srgbClr val="66FFFF"/>
                </a:solidFill>
              </a:rPr>
              <a:t>SKLD</a:t>
            </a:r>
            <a:r>
              <a:rPr lang="en-US" altLang="en-US" sz="1600" dirty="0" smtClean="0">
                <a:solidFill>
                  <a:srgbClr val="66FFFF"/>
                </a:solidFill>
              </a:rPr>
              <a:t> </a:t>
            </a:r>
            <a:r>
              <a:rPr lang="el-GR" altLang="en-US" sz="1600" dirty="0" smtClean="0">
                <a:solidFill>
                  <a:srgbClr val="66FFFF"/>
                </a:solidFill>
              </a:rPr>
              <a:t>σε ένα ή περισσότερα ζεύγη για αρκετές ημέρες) σημαίνει οτι ο σεισμός θα είναι ισχυρός, αλλά το αντίστροφο δεν ισχύει πάντα λόγω κατευθυντικότητας (</a:t>
            </a:r>
            <a:r>
              <a:rPr lang="en-GB" altLang="en-US" sz="1600" dirty="0" smtClean="0">
                <a:solidFill>
                  <a:srgbClr val="66FFFF"/>
                </a:solidFill>
              </a:rPr>
              <a:t>directivity effect)</a:t>
            </a:r>
            <a:r>
              <a:rPr lang="el-GR" altLang="en-US" sz="1600" dirty="0" smtClean="0">
                <a:solidFill>
                  <a:srgbClr val="66FFFF"/>
                </a:solidFill>
              </a:rPr>
              <a:t>.</a:t>
            </a:r>
          </a:p>
          <a:p>
            <a:pPr algn="just" eaLnBrk="1" hangingPunct="1">
              <a:buFont typeface="+mj-lt"/>
              <a:buAutoNum type="arabicPeriod" startAt="4"/>
            </a:pPr>
            <a:endParaRPr lang="el-GR" altLang="en-US" sz="1600" dirty="0" smtClean="0">
              <a:solidFill>
                <a:srgbClr val="66FFFF"/>
              </a:solidFill>
            </a:endParaRPr>
          </a:p>
          <a:p>
            <a:pPr algn="just" eaLnBrk="1" hangingPunct="1">
              <a:buFont typeface="+mj-lt"/>
              <a:buAutoNum type="arabicPeriod" startAt="4"/>
            </a:pPr>
            <a:r>
              <a:rPr lang="el-GR" altLang="en-US" sz="1600" dirty="0" smtClean="0">
                <a:solidFill>
                  <a:srgbClr val="66FFFF"/>
                </a:solidFill>
              </a:rPr>
              <a:t>Όσο πιο μεγάλο είναι σε απόλυτη τιμή το </a:t>
            </a:r>
            <a:r>
              <a:rPr lang="en-GB" altLang="en-US" sz="1600" dirty="0" smtClean="0">
                <a:solidFill>
                  <a:srgbClr val="66FFFF"/>
                </a:solidFill>
              </a:rPr>
              <a:t>SKLD</a:t>
            </a:r>
            <a:r>
              <a:rPr lang="en-US" altLang="en-US" sz="1600" dirty="0" smtClean="0">
                <a:solidFill>
                  <a:srgbClr val="66FFFF"/>
                </a:solidFill>
              </a:rPr>
              <a:t>, </a:t>
            </a:r>
            <a:r>
              <a:rPr lang="el-GR" altLang="en-US" sz="1600" dirty="0" smtClean="0">
                <a:solidFill>
                  <a:srgbClr val="66FFFF"/>
                </a:solidFill>
              </a:rPr>
              <a:t>τόσο πιο κοντά βρίσκεται στο επίκεντρο ο ένας από τους δύο σταθμούς του ζεύγους.</a:t>
            </a:r>
          </a:p>
          <a:p>
            <a:pPr algn="just" eaLnBrk="1" hangingPunct="1">
              <a:buFont typeface="+mj-lt"/>
              <a:buAutoNum type="arabicPeriod" startAt="4"/>
            </a:pPr>
            <a:endParaRPr lang="el-GR" altLang="en-US" sz="1600" dirty="0" smtClean="0">
              <a:solidFill>
                <a:srgbClr val="66FFFF"/>
              </a:solidFill>
            </a:endParaRPr>
          </a:p>
          <a:p>
            <a:pPr algn="just" eaLnBrk="1" hangingPunct="1">
              <a:buFont typeface="+mj-lt"/>
              <a:buAutoNum type="arabicPeriod" startAt="4"/>
            </a:pPr>
            <a:r>
              <a:rPr lang="el-GR" altLang="en-US" sz="1600" dirty="0" smtClean="0">
                <a:solidFill>
                  <a:srgbClr val="66FFFF"/>
                </a:solidFill>
              </a:rPr>
              <a:t>Τα συμπεράσματα (4),(5) ισχύουν αθροιστικά, δηλαδή ένα ισχυρό σήμα που καταγράφεται επί πολλές ημέρες είναι προάγγελος ενός ισχυρού σεισμού με επίκεντρο πολύ κοντά στο </a:t>
            </a:r>
            <a:r>
              <a:rPr lang="en-GB" altLang="en-US" sz="1600" dirty="0" smtClean="0">
                <a:solidFill>
                  <a:srgbClr val="66FFFF"/>
                </a:solidFill>
              </a:rPr>
              <a:t>GPS (</a:t>
            </a:r>
            <a:r>
              <a:rPr lang="el-GR" altLang="en-US" sz="1600" dirty="0" smtClean="0">
                <a:solidFill>
                  <a:srgbClr val="66FFFF"/>
                </a:solidFill>
              </a:rPr>
              <a:t>π.χ. ο σεισμός στην Κεφαλονιά 6.1</a:t>
            </a:r>
            <a:r>
              <a:rPr lang="en-GB" altLang="en-US" sz="1600" dirty="0" smtClean="0">
                <a:solidFill>
                  <a:srgbClr val="66FFFF"/>
                </a:solidFill>
              </a:rPr>
              <a:t>R</a:t>
            </a:r>
            <a:r>
              <a:rPr lang="en-US" altLang="en-US" sz="1600" dirty="0" smtClean="0">
                <a:solidFill>
                  <a:srgbClr val="66FFFF"/>
                </a:solidFill>
              </a:rPr>
              <a:t> </a:t>
            </a:r>
            <a:r>
              <a:rPr lang="el-GR" altLang="en-US" sz="1600" dirty="0" smtClean="0">
                <a:solidFill>
                  <a:srgbClr val="66FFFF"/>
                </a:solidFill>
              </a:rPr>
              <a:t>στις 26-01-2014).</a:t>
            </a:r>
          </a:p>
          <a:p>
            <a:pPr algn="just" eaLnBrk="1" hangingPunct="1">
              <a:buFont typeface="+mj-lt"/>
              <a:buAutoNum type="arabicPeriod" startAt="4"/>
            </a:pPr>
            <a:endParaRPr lang="el-GR" altLang="en-US" sz="1600" dirty="0" smtClean="0">
              <a:solidFill>
                <a:srgbClr val="66FFFF"/>
              </a:solidFill>
            </a:endParaRPr>
          </a:p>
          <a:p>
            <a:pPr algn="just" eaLnBrk="1" hangingPunct="1">
              <a:buFont typeface="+mj-lt"/>
              <a:buAutoNum type="arabicPeriod" startAt="4"/>
            </a:pPr>
            <a:r>
              <a:rPr lang="el-GR" altLang="en-US" sz="1600" dirty="0" smtClean="0">
                <a:solidFill>
                  <a:srgbClr val="66FFFF"/>
                </a:solidFill>
              </a:rPr>
              <a:t>Σεισμοί εντάσεως ≥6</a:t>
            </a:r>
            <a:r>
              <a:rPr lang="en-GB" altLang="en-US" sz="1600" dirty="0" smtClean="0">
                <a:solidFill>
                  <a:srgbClr val="66FFFF"/>
                </a:solidFill>
              </a:rPr>
              <a:t>R </a:t>
            </a:r>
            <a:r>
              <a:rPr lang="el-GR" altLang="en-US" sz="1600" dirty="0" smtClean="0">
                <a:solidFill>
                  <a:srgbClr val="66FFFF"/>
                </a:solidFill>
              </a:rPr>
              <a:t>συνεχίζουν να παράγουν μικροδιαταραχές για αρκετούς μήνες (αυξημένες τιμές </a:t>
            </a:r>
            <a:r>
              <a:rPr lang="en-GB" altLang="en-US" sz="1600" dirty="0" smtClean="0">
                <a:solidFill>
                  <a:srgbClr val="66FFFF"/>
                </a:solidFill>
              </a:rPr>
              <a:t>SKLD</a:t>
            </a:r>
            <a:r>
              <a:rPr lang="en-US" altLang="en-US" sz="1600" dirty="0" smtClean="0">
                <a:solidFill>
                  <a:srgbClr val="66FFFF"/>
                </a:solidFill>
              </a:rPr>
              <a:t> </a:t>
            </a:r>
            <a:r>
              <a:rPr lang="el-GR" altLang="en-US" sz="1600" dirty="0" smtClean="0">
                <a:solidFill>
                  <a:srgbClr val="66FFFF"/>
                </a:solidFill>
              </a:rPr>
              <a:t>στα αντίστοιχα ζεύγη), δηλαδή η διάρκεια των </a:t>
            </a:r>
            <a:r>
              <a:rPr lang="el-GR" altLang="en-US" sz="1600" dirty="0" smtClean="0">
                <a:solidFill>
                  <a:srgbClr val="66FFFF"/>
                </a:solidFill>
              </a:rPr>
              <a:t>μετασεισμικών</a:t>
            </a:r>
            <a:r>
              <a:rPr lang="el-GR" altLang="en-US" sz="1600" dirty="0" smtClean="0">
                <a:solidFill>
                  <a:srgbClr val="66FFFF"/>
                </a:solidFill>
              </a:rPr>
              <a:t>-αποκλίσεων </a:t>
            </a:r>
            <a:r>
              <a:rPr lang="en-GB" altLang="en-US" sz="1600" dirty="0" smtClean="0">
                <a:solidFill>
                  <a:srgbClr val="66FFFF"/>
                </a:solidFill>
              </a:rPr>
              <a:t>TEC </a:t>
            </a:r>
            <a:r>
              <a:rPr lang="el-GR" altLang="en-US" sz="1600" dirty="0" smtClean="0">
                <a:solidFill>
                  <a:srgbClr val="66FFFF"/>
                </a:solidFill>
              </a:rPr>
              <a:t>είναι </a:t>
            </a:r>
            <a:r>
              <a:rPr lang="el-GR" altLang="en-US" sz="1600" dirty="0" smtClean="0">
                <a:solidFill>
                  <a:srgbClr val="66FFFF"/>
                </a:solidFill>
              </a:rPr>
              <a:t>ανάλογη του μεγέθους (π.χ. στο σεισμό της Κεφαλονιάς οι υπερβάσεις συνεχίστηκαν με αυξομειώσεις τα επόμενα 2 χρόνια</a:t>
            </a:r>
            <a:r>
              <a:rPr lang="el-GR" altLang="en-US" sz="1600" dirty="0" smtClean="0">
                <a:solidFill>
                  <a:srgbClr val="66FFFF"/>
                </a:solidFill>
              </a:rPr>
              <a:t>).</a:t>
            </a:r>
          </a:p>
          <a:p>
            <a:pPr algn="just" eaLnBrk="1" hangingPunct="1">
              <a:buNone/>
            </a:pPr>
            <a:endParaRPr lang="el-GR" altLang="en-US" sz="1600" dirty="0" smtClean="0">
              <a:solidFill>
                <a:srgbClr val="66FFFF"/>
              </a:solidFill>
            </a:endParaRPr>
          </a:p>
          <a:p>
            <a:pPr algn="just" eaLnBrk="1" hangingPunct="1">
              <a:buFont typeface="+mj-lt"/>
              <a:buAutoNum type="arabicPeriod" startAt="8"/>
            </a:pPr>
            <a:r>
              <a:rPr lang="el-GR" altLang="en-US" sz="1600" dirty="0" smtClean="0">
                <a:solidFill>
                  <a:srgbClr val="66FFFF"/>
                </a:solidFill>
              </a:rPr>
              <a:t>Εντός </a:t>
            </a:r>
            <a:r>
              <a:rPr lang="el-GR" altLang="en-US" sz="1600" dirty="0" smtClean="0">
                <a:solidFill>
                  <a:srgbClr val="66FFFF"/>
                </a:solidFill>
              </a:rPr>
              <a:t>της ζώνης προετοιμασίας</a:t>
            </a:r>
            <a:r>
              <a:rPr lang="en-GB" altLang="en-US" sz="1600" dirty="0" smtClean="0">
                <a:solidFill>
                  <a:srgbClr val="66FFFF"/>
                </a:solidFill>
              </a:rPr>
              <a:t>, </a:t>
            </a:r>
            <a:r>
              <a:rPr lang="el-GR" altLang="en-US" sz="1600" dirty="0" smtClean="0">
                <a:solidFill>
                  <a:srgbClr val="66FFFF"/>
                </a:solidFill>
              </a:rPr>
              <a:t>είναι πιθανό άλλοι σταθμοί να επηρεαστούν και άλλοι όχι και αυτό εξαρτάται από την κατευθυντικότητα και την απόσταση του σταθμού από το επίκεντρο </a:t>
            </a:r>
            <a:r>
              <a:rPr lang="el-GR" altLang="en-US" sz="1600" dirty="0" smtClean="0">
                <a:solidFill>
                  <a:srgbClr val="66FFFF"/>
                </a:solidFill>
                <a:sym typeface="Wingdings" pitchFamily="2" charset="2"/>
              </a:rPr>
              <a:t></a:t>
            </a:r>
            <a:r>
              <a:rPr lang="el-GR" altLang="en-US" sz="1600" dirty="0" smtClean="0">
                <a:solidFill>
                  <a:srgbClr val="66FFFF"/>
                </a:solidFill>
              </a:rPr>
              <a:t> Όσο πιο πυκνό είναι το δίκτυο, τόσο μεγαλύτερη είναι η ακρίβεια στον προσδιορισμό του επικέντρου και του μεγέθους του σεισμού. </a:t>
            </a:r>
          </a:p>
          <a:p>
            <a:pPr algn="just" eaLnBrk="1" hangingPunct="1">
              <a:buFont typeface="+mj-lt"/>
              <a:buAutoNum type="arabicPeriod" startAt="8"/>
            </a:pPr>
            <a:endParaRPr lang="el-GR" altLang="en-US" sz="1600" dirty="0" smtClean="0">
              <a:solidFill>
                <a:srgbClr val="66FFFF"/>
              </a:solidFill>
            </a:endParaRPr>
          </a:p>
          <a:p>
            <a:pPr algn="just" eaLnBrk="1" hangingPunct="1">
              <a:buNone/>
            </a:pPr>
            <a:endParaRPr lang="el-GR" altLang="en-US" sz="1600" dirty="0" smtClean="0">
              <a:solidFill>
                <a:srgbClr val="66FFFF"/>
              </a:solidFill>
            </a:endParaRPr>
          </a:p>
          <a:p>
            <a:pPr algn="just" eaLnBrk="1" hangingPunct="1">
              <a:buFont typeface="+mj-lt"/>
              <a:buAutoNum type="arabicPeriod" startAt="4"/>
            </a:pPr>
            <a:endParaRPr lang="el-GR" altLang="en-US" sz="1600" dirty="0" smtClean="0">
              <a:solidFill>
                <a:srgbClr val="66FFFF"/>
              </a:solidFill>
            </a:endParaRPr>
          </a:p>
          <a:p>
            <a:pPr algn="just" eaLnBrk="1" hangingPunct="1">
              <a:buFont typeface="+mj-lt"/>
              <a:buAutoNum type="arabicPeriod" startAt="4"/>
            </a:pPr>
            <a:endParaRPr lang="el-GR" altLang="en-US" sz="1600" dirty="0" smtClean="0">
              <a:solidFill>
                <a:srgbClr val="66FFFF"/>
              </a:solidFill>
            </a:endParaRPr>
          </a:p>
          <a:p>
            <a:pPr algn="just" eaLnBrk="1" hangingPunct="1">
              <a:buFont typeface="+mj-lt"/>
              <a:buAutoNum type="arabicPeriod" startAt="4"/>
            </a:pPr>
            <a:endParaRPr lang="el-GR" altLang="en-US" sz="1600" dirty="0" smtClean="0">
              <a:solidFill>
                <a:srgbClr val="66FFFF"/>
              </a:solidFill>
            </a:endParaRPr>
          </a:p>
          <a:p>
            <a:pPr algn="just" eaLnBrk="1" hangingPunct="1">
              <a:buFont typeface="+mj-lt"/>
              <a:buAutoNum type="arabicPeriod" startAt="4"/>
            </a:pPr>
            <a:endParaRPr lang="el-GR" altLang="en-US" sz="1600" dirty="0" smtClean="0">
              <a:solidFill>
                <a:srgbClr val="66FFFF"/>
              </a:solidFill>
            </a:endParaRPr>
          </a:p>
          <a:p>
            <a:pPr algn="just" eaLnBrk="1" hangingPunct="1">
              <a:buFont typeface="+mj-lt"/>
              <a:buAutoNum type="arabicPeriod"/>
            </a:pPr>
            <a:endParaRPr lang="el-GR" altLang="en-US" sz="1600" dirty="0" smtClean="0">
              <a:solidFill>
                <a:srgbClr val="66FFFF"/>
              </a:solidFill>
            </a:endParaRPr>
          </a:p>
          <a:p>
            <a:pPr algn="just" eaLnBrk="1" hangingPunct="1">
              <a:buNone/>
            </a:pPr>
            <a:endParaRPr lang="el-GR" altLang="en-US" sz="1600" dirty="0" smtClean="0">
              <a:solidFill>
                <a:srgbClr val="66FFFF"/>
              </a:solidFill>
            </a:endParaRPr>
          </a:p>
          <a:p>
            <a:pPr algn="just" eaLnBrk="1" hangingPunct="1">
              <a:buFont typeface="+mj-lt"/>
              <a:buAutoNum type="arabicPeriod"/>
            </a:pPr>
            <a:endParaRPr lang="el-GR" altLang="en-US" sz="1600" dirty="0" smtClean="0">
              <a:solidFill>
                <a:srgbClr val="66FFFF"/>
              </a:solidFill>
            </a:endParaRPr>
          </a:p>
          <a:p>
            <a:pPr algn="just" eaLnBrk="1" hangingPunct="1">
              <a:buFont typeface="+mj-lt"/>
              <a:buAutoNum type="arabicPeriod"/>
            </a:pPr>
            <a:endParaRPr lang="en-GB" altLang="en-US" sz="1600" dirty="0" smtClean="0">
              <a:solidFill>
                <a:srgbClr val="66FFFF"/>
              </a:solidFill>
            </a:endParaRPr>
          </a:p>
          <a:p>
            <a:pPr algn="just" eaLnBrk="1" hangingPunct="1">
              <a:buFont typeface="+mj-lt"/>
              <a:buAutoNum type="arabicPeriod"/>
            </a:pPr>
            <a:endParaRPr lang="en-GB" altLang="en-US" sz="1600" dirty="0" smtClean="0">
              <a:solidFill>
                <a:srgbClr val="66FFFF"/>
              </a:solidFill>
            </a:endParaRPr>
          </a:p>
          <a:p>
            <a:pPr algn="just" eaLnBrk="1" hangingPunct="1">
              <a:buFont typeface="+mj-lt"/>
              <a:buAutoNum type="arabicPeriod"/>
            </a:pPr>
            <a:endParaRPr lang="el-GR" altLang="en-US" sz="1600" dirty="0" smtClean="0">
              <a:solidFill>
                <a:srgbClr val="66FFFF"/>
              </a:solidFill>
            </a:endParaRPr>
          </a:p>
          <a:p>
            <a:pPr algn="just" eaLnBrk="1" hangingPunct="1">
              <a:buNone/>
            </a:pPr>
            <a:endParaRPr lang="en-GB" altLang="en-US" sz="1600" dirty="0" smtClean="0">
              <a:solidFill>
                <a:srgbClr val="66FFFF"/>
              </a:solidFill>
            </a:endParaRPr>
          </a:p>
          <a:p>
            <a:pPr algn="just" eaLnBrk="1" hangingPunct="1">
              <a:buFont typeface="+mj-lt"/>
              <a:buAutoNum type="arabicPeriod"/>
            </a:pPr>
            <a:endParaRPr lang="en-GB" altLang="en-US" sz="1600" dirty="0" smtClean="0">
              <a:solidFill>
                <a:srgbClr val="66FFFF"/>
              </a:solidFill>
            </a:endParaRPr>
          </a:p>
        </p:txBody>
      </p:sp>
    </p:spTree>
  </p:cSld>
  <p:clrMapOvr>
    <a:masterClrMapping/>
  </p:clrMapOvr>
  <p:transition advClick="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l-GR" altLang="en-US" sz="6000" dirty="0" smtClean="0">
                <a:solidFill>
                  <a:srgbClr val="FFFF00"/>
                </a:solidFill>
              </a:rPr>
              <a:t/>
            </a:r>
            <a:br>
              <a:rPr lang="el-GR" altLang="en-US" sz="6000" dirty="0" smtClean="0">
                <a:solidFill>
                  <a:srgbClr val="FFFF00"/>
                </a:solidFill>
              </a:rPr>
            </a:br>
            <a:r>
              <a:rPr lang="el-GR" altLang="en-US" sz="6000" dirty="0" smtClean="0">
                <a:solidFill>
                  <a:srgbClr val="FFFF00"/>
                </a:solidFill>
              </a:rPr>
              <a:t/>
            </a:r>
            <a:br>
              <a:rPr lang="el-GR" altLang="en-US" sz="6000" dirty="0" smtClean="0">
                <a:solidFill>
                  <a:srgbClr val="FFFF00"/>
                </a:solidFill>
              </a:rPr>
            </a:br>
            <a:r>
              <a:rPr lang="el-GR" altLang="en-US" sz="6000" dirty="0" smtClean="0">
                <a:solidFill>
                  <a:srgbClr val="FFFF00"/>
                </a:solidFill>
              </a:rPr>
              <a:t/>
            </a:r>
            <a:br>
              <a:rPr lang="el-GR" altLang="en-US" sz="6000" dirty="0" smtClean="0">
                <a:solidFill>
                  <a:srgbClr val="FFFF00"/>
                </a:solidFill>
              </a:rPr>
            </a:br>
            <a:r>
              <a:rPr lang="el-GR" altLang="en-US" sz="6000" dirty="0" smtClean="0">
                <a:solidFill>
                  <a:srgbClr val="FFFF00"/>
                </a:solidFill>
              </a:rPr>
              <a:t/>
            </a:r>
            <a:br>
              <a:rPr lang="el-GR" altLang="en-US" sz="6000" dirty="0" smtClean="0">
                <a:solidFill>
                  <a:srgbClr val="FFFF00"/>
                </a:solidFill>
              </a:rPr>
            </a:br>
            <a:r>
              <a:rPr lang="el-GR" altLang="en-US" sz="6000" dirty="0" smtClean="0">
                <a:solidFill>
                  <a:srgbClr val="FFFF00"/>
                </a:solidFill>
              </a:rPr>
              <a:t/>
            </a:r>
            <a:br>
              <a:rPr lang="el-GR" altLang="en-US" sz="6000" dirty="0" smtClean="0">
                <a:solidFill>
                  <a:srgbClr val="FFFF00"/>
                </a:solidFill>
              </a:rPr>
            </a:br>
            <a:r>
              <a:rPr lang="el-GR" altLang="en-US" sz="6000" i="1" dirty="0" smtClean="0">
                <a:solidFill>
                  <a:srgbClr val="FFFF00"/>
                </a:solidFill>
              </a:rPr>
              <a:t>Τ Ε Λ Ο Σ</a:t>
            </a:r>
            <a:endParaRPr lang="en-US" altLang="en-US" sz="6000" i="1" dirty="0" smtClean="0">
              <a:solidFill>
                <a:srgbClr val="FFFF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66CCFF"/>
      </a:dk1>
      <a:lt1>
        <a:srgbClr val="FFFFFF"/>
      </a:lt1>
      <a:dk2>
        <a:srgbClr val="FFFFFF"/>
      </a:dk2>
      <a:lt2>
        <a:srgbClr val="004080"/>
      </a:lt2>
      <a:accent1>
        <a:srgbClr val="FFFFFF"/>
      </a:accent1>
      <a:accent2>
        <a:srgbClr val="66CCFF"/>
      </a:accent2>
      <a:accent3>
        <a:srgbClr val="FFFFFF"/>
      </a:accent3>
      <a:accent4>
        <a:srgbClr val="56AEDA"/>
      </a:accent4>
      <a:accent5>
        <a:srgbClr val="FFFFFF"/>
      </a:accent5>
      <a:accent6>
        <a:srgbClr val="5CB9E7"/>
      </a:accent6>
      <a:hlink>
        <a:srgbClr val="CC66FF"/>
      </a:hlink>
      <a:folHlink>
        <a:srgbClr val="6666FF"/>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3366FF"/>
        </a:hlink>
        <a:folHlink>
          <a:srgbClr val="6699FF"/>
        </a:folHlink>
      </a:clrScheme>
      <a:clrMap bg1="lt1" tx1="dk1" bg2="lt2" tx2="dk2" accent1="accent1" accent2="accent2" accent3="accent3" accent4="accent4" accent5="accent5" accent6="accent6" hlink="hlink" folHlink="folHlink"/>
    </a:extraClrScheme>
    <a:extraClrScheme>
      <a:clrScheme name="Default Design 15">
        <a:dk1>
          <a:srgbClr val="000066"/>
        </a:dk1>
        <a:lt1>
          <a:srgbClr val="FFFFFF"/>
        </a:lt1>
        <a:dk2>
          <a:srgbClr val="000066"/>
        </a:dk2>
        <a:lt2>
          <a:srgbClr val="808080"/>
        </a:lt2>
        <a:accent1>
          <a:srgbClr val="BBE0E3"/>
        </a:accent1>
        <a:accent2>
          <a:srgbClr val="333399"/>
        </a:accent2>
        <a:accent3>
          <a:srgbClr val="FFFFFF"/>
        </a:accent3>
        <a:accent4>
          <a:srgbClr val="000056"/>
        </a:accent4>
        <a:accent5>
          <a:srgbClr val="DAEDEF"/>
        </a:accent5>
        <a:accent6>
          <a:srgbClr val="2D2D8A"/>
        </a:accent6>
        <a:hlink>
          <a:srgbClr val="000066"/>
        </a:hlink>
        <a:folHlink>
          <a:srgbClr val="3333FF"/>
        </a:folHlink>
      </a:clrScheme>
      <a:clrMap bg1="lt1" tx1="dk1" bg2="lt2" tx2="dk2" accent1="accent1" accent2="accent2" accent3="accent3" accent4="accent4" accent5="accent5" accent6="accent6" hlink="hlink" folHlink="folHlink"/>
    </a:extraClrScheme>
    <a:extraClrScheme>
      <a:clrScheme name="Default Design 16">
        <a:dk1>
          <a:srgbClr val="000066"/>
        </a:dk1>
        <a:lt1>
          <a:srgbClr val="FFFFFF"/>
        </a:lt1>
        <a:dk2>
          <a:srgbClr val="000066"/>
        </a:dk2>
        <a:lt2>
          <a:srgbClr val="808080"/>
        </a:lt2>
        <a:accent1>
          <a:srgbClr val="CCECFF"/>
        </a:accent1>
        <a:accent2>
          <a:srgbClr val="333399"/>
        </a:accent2>
        <a:accent3>
          <a:srgbClr val="FFFFFF"/>
        </a:accent3>
        <a:accent4>
          <a:srgbClr val="000056"/>
        </a:accent4>
        <a:accent5>
          <a:srgbClr val="E2F4FF"/>
        </a:accent5>
        <a:accent6>
          <a:srgbClr val="2D2D8A"/>
        </a:accent6>
        <a:hlink>
          <a:srgbClr val="000066"/>
        </a:hlink>
        <a:folHlink>
          <a:srgbClr val="3333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1876</TotalTime>
  <Words>1467</Words>
  <Application>Microsoft Office PowerPoint</Application>
  <PresentationFormat>On-screen Show (4:3)</PresentationFormat>
  <Paragraphs>108</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Default Design</vt:lpstr>
      <vt:lpstr>«Βραχυπρόθεσμη πρόγνωση σεισμών (Μ≥4,5R) μέσω μεταβολής της ιονοσφαιρικής παραμέτρου TEC κατά την επεξεργασία των καταγραφών από σταθμούς GPS»</vt:lpstr>
      <vt:lpstr>Slide 2</vt:lpstr>
      <vt:lpstr>Μοντέλο Λιθο – Ατμοσφαιρικής – Ιονοσφαιρικής Σύζευξης  (LAIC model)</vt:lpstr>
      <vt:lpstr>Ιονοσφαιρικά πρόδρομα</vt:lpstr>
      <vt:lpstr>Ιονοσφαιρικά πρόδρομα (πλεονεκτήματα)</vt:lpstr>
      <vt:lpstr>Περιγραφή μεθόδου ανάλυσης χρονοσειρών TEC</vt:lpstr>
      <vt:lpstr>Περιγραφή μεθόδου ανάλυσης χρονοσειρών TEC</vt:lpstr>
      <vt:lpstr>Χρονοσειρές TEC σε ήρεμη περίοδο (υψηλή συσχέτιση  μικρές τιμές SKLD)</vt:lpstr>
      <vt:lpstr>Χρονοσειρές TEC - 3 ημέρες πριν από το σεισμό 6.1R στην Κεφαλονιά στις 26-01-2014 (μεγάλες αποκλίσεις στον σταθμό vlsm στις 0-4am και 4-12pm) </vt:lpstr>
      <vt:lpstr>Γεωμαγνητική και ηλιακή δραστηριότητα - 3 ημέρες πριν από το σεισμό 6.1R στην Κεφαλονιά στις 26-01-2014 (Kp&lt;4, Dst&gt;-20nT, F10.7cm radio flux &lt;140sfu) </vt:lpstr>
      <vt:lpstr>Χωρική κατανομή TEC - 3 ημέρες πριν από το σεισμό  (ασυνήθιστα υψηλές τιμές ΤΕC στον σταθμό vlsm τις πρωινές ώρες) </vt:lpstr>
      <vt:lpstr>Σχετική θέση επικέντρου και σταθμού GPS  (ο σταθμός vlsm ήταν σχεδόν πάνω στο επίκεντρο, με αποτέλεσμα οι υπερβάσεις SKLD στα ζεύγη kef-lef και kef-patr να είναι πολύ μεγάλες)   </vt:lpstr>
      <vt:lpstr>Slide 13</vt:lpstr>
      <vt:lpstr>Δείκτης SKLD πριν το σεισμό (οι μεγάλες αποκλίσεις στα ζεύγη kef-lef και kef-patr, υποδεικνύουν οτι ο σταθμός στην Κεφαλονιά έχει ανώμαλες καταγραφές TEC) </vt:lpstr>
      <vt:lpstr>Δείκτης SKLD  - 6 μήνες μετά το σεισμό (οι τιμές υποχώρησαν σε φυσιολογικά επίπεδα  εκτονώθηκε η διαταραχή στην ιονόσφαιρα)</vt:lpstr>
      <vt:lpstr>Συμπεράσματα</vt:lpstr>
      <vt:lpstr>Συμπεράσματα (συνέχεια)</vt:lpstr>
      <vt:lpstr>     Τ Ε Λ Ο Σ</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Subtle Waves Template</dc:title>
  <dc:creator>Presentation Magazine</dc:creator>
  <cp:lastModifiedBy>Kostas</cp:lastModifiedBy>
  <cp:revision>340</cp:revision>
  <dcterms:modified xsi:type="dcterms:W3CDTF">2016-06-22T12:31:43Z</dcterms:modified>
</cp:coreProperties>
</file>